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9"/>
    <p:sldId id="264" r:id="rId10"/>
    <p:sldId id="265" r:id="rId11"/>
    <p:sldId id="266" r:id="rId12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19" Type="http://schemas.openxmlformats.org/officeDocument/2006/relationships/slide" Target="slides/slide1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Fernandes" userId="4bb7edb123ea201c" providerId="LiveId" clId="{EFA473DF-CAC7-4109-9D03-7D8D9504710B}"/>
    <pc:docChg chg="undo custSel modSld">
      <pc:chgData name="Guilherme Fernandes" userId="4bb7edb123ea201c" providerId="LiveId" clId="{EFA473DF-CAC7-4109-9D03-7D8D9504710B}" dt="2026-05-22T23:32:36.623" v="45" actId="1036"/>
      <pc:docMkLst>
        <pc:docMk/>
      </pc:docMkLst>
      <pc:sldChg chg="modSp mod">
        <pc:chgData name="Guilherme Fernandes" userId="4bb7edb123ea201c" providerId="LiveId" clId="{EFA473DF-CAC7-4109-9D03-7D8D9504710B}" dt="2026-05-22T23:32:36.623" v="45" actId="1036"/>
        <pc:sldMkLst>
          <pc:docMk/>
          <pc:sldMk cId="0" sldId="257"/>
        </pc:sldMkLst>
        <pc:spChg chg="mod">
          <ac:chgData name="Guilherme Fernandes" userId="4bb7edb123ea201c" providerId="LiveId" clId="{EFA473DF-CAC7-4109-9D03-7D8D9504710B}" dt="2026-05-22T23:32:26.499" v="2" actId="1076"/>
          <ac:spMkLst>
            <pc:docMk/>
            <pc:sldMk cId="0" sldId="257"/>
            <ac:spMk id="2" creationId="{00000000-0000-0000-0000-000000000000}"/>
          </ac:spMkLst>
        </pc:spChg>
        <pc:spChg chg="mod">
          <ac:chgData name="Guilherme Fernandes" userId="4bb7edb123ea201c" providerId="LiveId" clId="{EFA473DF-CAC7-4109-9D03-7D8D9504710B}" dt="2026-05-22T23:32:20.838" v="0" actId="1076"/>
          <ac:spMkLst>
            <pc:docMk/>
            <pc:sldMk cId="0" sldId="257"/>
            <ac:spMk id="26" creationId="{00000000-0000-0000-0000-000000000000}"/>
          </ac:spMkLst>
        </pc:spChg>
        <pc:spChg chg="mod">
          <ac:chgData name="Guilherme Fernandes" userId="4bb7edb123ea201c" providerId="LiveId" clId="{EFA473DF-CAC7-4109-9D03-7D8D9504710B}" dt="2026-05-22T23:32:20.838" v="0" actId="1076"/>
          <ac:spMkLst>
            <pc:docMk/>
            <pc:sldMk cId="0" sldId="257"/>
            <ac:spMk id="27" creationId="{00000000-0000-0000-0000-000000000000}"/>
          </ac:spMkLst>
        </pc:spChg>
        <pc:spChg chg="mod">
          <ac:chgData name="Guilherme Fernandes" userId="4bb7edb123ea201c" providerId="LiveId" clId="{EFA473DF-CAC7-4109-9D03-7D8D9504710B}" dt="2026-05-22T23:32:20.838" v="0" actId="1076"/>
          <ac:spMkLst>
            <pc:docMk/>
            <pc:sldMk cId="0" sldId="257"/>
            <ac:spMk id="31" creationId="{00000000-0000-0000-0000-000000000000}"/>
          </ac:spMkLst>
        </pc:spChg>
        <pc:spChg chg="mod">
          <ac:chgData name="Guilherme Fernandes" userId="4bb7edb123ea201c" providerId="LiveId" clId="{EFA473DF-CAC7-4109-9D03-7D8D9504710B}" dt="2026-05-22T23:32:20.838" v="0" actId="1076"/>
          <ac:spMkLst>
            <pc:docMk/>
            <pc:sldMk cId="0" sldId="257"/>
            <ac:spMk id="38" creationId="{00000000-0000-0000-0000-000000000000}"/>
          </ac:spMkLst>
        </pc:spChg>
        <pc:spChg chg="mod">
          <ac:chgData name="Guilherme Fernandes" userId="4bb7edb123ea201c" providerId="LiveId" clId="{EFA473DF-CAC7-4109-9D03-7D8D9504710B}" dt="2026-05-22T23:32:20.838" v="0" actId="1076"/>
          <ac:spMkLst>
            <pc:docMk/>
            <pc:sldMk cId="0" sldId="257"/>
            <ac:spMk id="39" creationId="{00000000-0000-0000-0000-000000000000}"/>
          </ac:spMkLst>
        </pc:spChg>
        <pc:spChg chg="mod">
          <ac:chgData name="Guilherme Fernandes" userId="4bb7edb123ea201c" providerId="LiveId" clId="{EFA473DF-CAC7-4109-9D03-7D8D9504710B}" dt="2026-05-22T23:32:20.838" v="0" actId="1076"/>
          <ac:spMkLst>
            <pc:docMk/>
            <pc:sldMk cId="0" sldId="257"/>
            <ac:spMk id="43" creationId="{00000000-0000-0000-0000-000000000000}"/>
          </ac:spMkLst>
        </pc:spChg>
        <pc:spChg chg="mod">
          <ac:chgData name="Guilherme Fernandes" userId="4bb7edb123ea201c" providerId="LiveId" clId="{EFA473DF-CAC7-4109-9D03-7D8D9504710B}" dt="2026-05-22T23:32:20.838" v="0" actId="1076"/>
          <ac:spMkLst>
            <pc:docMk/>
            <pc:sldMk cId="0" sldId="257"/>
            <ac:spMk id="49" creationId="{00000000-0000-0000-0000-000000000000}"/>
          </ac:spMkLst>
        </pc:spChg>
        <pc:spChg chg="mod">
          <ac:chgData name="Guilherme Fernandes" userId="4bb7edb123ea201c" providerId="LiveId" clId="{EFA473DF-CAC7-4109-9D03-7D8D9504710B}" dt="2026-05-22T23:32:20.838" v="0" actId="1076"/>
          <ac:spMkLst>
            <pc:docMk/>
            <pc:sldMk cId="0" sldId="257"/>
            <ac:spMk id="53" creationId="{00000000-0000-0000-0000-000000000000}"/>
          </ac:spMkLst>
        </pc:spChg>
        <pc:spChg chg="mod">
          <ac:chgData name="Guilherme Fernandes" userId="4bb7edb123ea201c" providerId="LiveId" clId="{EFA473DF-CAC7-4109-9D03-7D8D9504710B}" dt="2026-05-22T23:32:20.838" v="0" actId="1076"/>
          <ac:spMkLst>
            <pc:docMk/>
            <pc:sldMk cId="0" sldId="257"/>
            <ac:spMk id="57" creationId="{00000000-0000-0000-0000-000000000000}"/>
          </ac:spMkLst>
        </pc:spChg>
        <pc:spChg chg="mod">
          <ac:chgData name="Guilherme Fernandes" userId="4bb7edb123ea201c" providerId="LiveId" clId="{EFA473DF-CAC7-4109-9D03-7D8D9504710B}" dt="2026-05-22T23:32:20.838" v="0" actId="1076"/>
          <ac:spMkLst>
            <pc:docMk/>
            <pc:sldMk cId="0" sldId="257"/>
            <ac:spMk id="68" creationId="{00000000-0000-0000-0000-000000000000}"/>
          </ac:spMkLst>
        </pc:spChg>
        <pc:spChg chg="mod">
          <ac:chgData name="Guilherme Fernandes" userId="4bb7edb123ea201c" providerId="LiveId" clId="{EFA473DF-CAC7-4109-9D03-7D8D9504710B}" dt="2026-05-22T23:32:36.623" v="45" actId="1036"/>
          <ac:spMkLst>
            <pc:docMk/>
            <pc:sldMk cId="0" sldId="257"/>
            <ac:spMk id="85" creationId="{00000000-0000-0000-0000-000000000000}"/>
          </ac:spMkLst>
        </pc:spChg>
        <pc:spChg chg="mod">
          <ac:chgData name="Guilherme Fernandes" userId="4bb7edb123ea201c" providerId="LiveId" clId="{EFA473DF-CAC7-4109-9D03-7D8D9504710B}" dt="2026-05-22T23:32:31.706" v="21" actId="1035"/>
          <ac:spMkLst>
            <pc:docMk/>
            <pc:sldMk cId="0" sldId="257"/>
            <ac:spMk id="86" creationId="{00000000-0000-0000-0000-000000000000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232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0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2286000"/>
          </a:xfrm>
          <a:prstGeom prst="rect">
            <a:avLst/>
          </a:prstGeom>
          <a:solidFill>
            <a:srgbClr val="0D1A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 rot="1800000">
            <a:off x="8686800" y="914400"/>
            <a:ext cx="502920" cy="164592"/>
          </a:xfrm>
          <a:prstGeom prst="ellipse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 rot="2700000">
            <a:off x="9509760" y="914400"/>
            <a:ext cx="502920" cy="164592"/>
          </a:xfrm>
          <a:prstGeom prst="ellipse">
            <a:avLst/>
          </a:prstGeom>
          <a:solidFill>
            <a:srgbClr val="1A3A0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 rot="3600000">
            <a:off x="10332720" y="914400"/>
            <a:ext cx="502920" cy="164592"/>
          </a:xfrm>
          <a:prstGeom prst="ellipse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 rot="4500000">
            <a:off x="8686800" y="1920240"/>
            <a:ext cx="502920" cy="164592"/>
          </a:xfrm>
          <a:prstGeom prst="ellipse">
            <a:avLst/>
          </a:prstGeom>
          <a:solidFill>
            <a:srgbClr val="1A3A0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 rot="5400000">
            <a:off x="9509760" y="1920240"/>
            <a:ext cx="502920" cy="164592"/>
          </a:xfrm>
          <a:prstGeom prst="ellipse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 rot="6300000">
            <a:off x="10332720" y="1920240"/>
            <a:ext cx="502920" cy="164592"/>
          </a:xfrm>
          <a:prstGeom prst="ellipse">
            <a:avLst/>
          </a:prstGeom>
          <a:solidFill>
            <a:srgbClr val="1A3A0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 rot="7200000">
            <a:off x="8686800" y="2926080"/>
            <a:ext cx="502920" cy="164592"/>
          </a:xfrm>
          <a:prstGeom prst="ellipse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 rot="8100000">
            <a:off x="9509760" y="2926080"/>
            <a:ext cx="502920" cy="164592"/>
          </a:xfrm>
          <a:prstGeom prst="ellipse">
            <a:avLst/>
          </a:prstGeom>
          <a:solidFill>
            <a:srgbClr val="1A3A0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548640" y="1371600"/>
            <a:ext cx="1463040" cy="1463040"/>
          </a:xfrm>
          <a:prstGeom prst="ellipse">
            <a:avLst/>
          </a:prstGeom>
          <a:solidFill>
            <a:srgbClr val="1A3A0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48640" y="1371600"/>
            <a:ext cx="1463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EAP MAZ 2026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A7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Uso — Interface Web &amp; Mobile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1924812" cy="347472"/>
          </a:xfrm>
          <a:prstGeom prst="rect">
            <a:avLst/>
          </a:prstGeom>
          <a:solidFill>
            <a:srgbClr val="1A3A08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1924812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Gantt Interativo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46604" y="4663440"/>
            <a:ext cx="1664208" cy="347472"/>
          </a:xfrm>
          <a:prstGeom prst="rect">
            <a:avLst/>
          </a:prstGeom>
          <a:solidFill>
            <a:srgbClr val="1A3A08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2546604" y="4663440"/>
            <a:ext cx="1664208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Status Report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75404" y="4663440"/>
            <a:ext cx="1490472" cy="347472"/>
          </a:xfrm>
          <a:prstGeom prst="rect">
            <a:avLst/>
          </a:prstGeom>
          <a:solidFill>
            <a:srgbClr val="1A3A08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375404" y="4663440"/>
            <a:ext cx="1490472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Requisições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30468" y="4663440"/>
            <a:ext cx="1577340" cy="347472"/>
          </a:xfrm>
          <a:prstGeom prst="rect">
            <a:avLst/>
          </a:prstGeom>
          <a:solidFill>
            <a:srgbClr val="1A3A08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030468" y="4663440"/>
            <a:ext cx="1577340" cy="34747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Web &amp; Mobile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2026 · MAZ – Muquém do São Francisco, BA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2E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37160" y="0"/>
            <a:ext cx="32004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DASHBOARD EAP MAZ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0" y="73152"/>
            <a:ext cx="1005840" cy="347472"/>
          </a:xfrm>
          <a:prstGeom prst="rect">
            <a:avLst/>
          </a:prstGeom>
          <a:solidFill>
            <a:srgbClr val="4A9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474720" y="73152"/>
            <a:ext cx="10058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53712" y="73152"/>
            <a:ext cx="1371600" cy="347472"/>
          </a:xfrm>
          <a:prstGeom prst="rect">
            <a:avLst/>
          </a:prstGeom>
          <a:solidFill>
            <a:srgbClr val="2D5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53712" y="73152"/>
            <a:ext cx="137160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98464" y="73152"/>
            <a:ext cx="1828800" cy="347472"/>
          </a:xfrm>
          <a:prstGeom prst="rect">
            <a:avLst/>
          </a:prstGeom>
          <a:solidFill>
            <a:srgbClr val="2D5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98464" y="73152"/>
            <a:ext cx="182880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de Compras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73152"/>
            <a:ext cx="3383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Atualizado: Mai 2026  👤 Admin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0" y="502920"/>
            <a:ext cx="12188952" cy="384048"/>
          </a:xfrm>
          <a:prstGeom prst="rect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7160" y="502920"/>
            <a:ext cx="6858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Filtros: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566928"/>
            <a:ext cx="1196035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4400" y="566928"/>
            <a:ext cx="1196035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Eixos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20163" y="566928"/>
            <a:ext cx="1196035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220163" y="566928"/>
            <a:ext cx="1196035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Dez 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25926" y="566928"/>
            <a:ext cx="1261872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525926" y="566928"/>
            <a:ext cx="126187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Status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566928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Limpar filtros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0" y="1471931"/>
            <a:ext cx="12188952" cy="301752"/>
          </a:xfrm>
          <a:prstGeom prst="rect">
            <a:avLst/>
          </a:prstGeom>
          <a:solidFill>
            <a:srgbClr val="316A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64592" y="1471931"/>
            <a:ext cx="64008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1 — Gestão e Planejamento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772400" y="1513079"/>
            <a:ext cx="623621" cy="21945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772400" y="1513079"/>
            <a:ext cx="623621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326880" y="1577544"/>
            <a:ext cx="2560320" cy="73152"/>
          </a:xfrm>
          <a:prstGeom prst="rect">
            <a:avLst/>
          </a:prstGeom>
          <a:solidFill>
            <a:srgbClr val="3A6B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9326880" y="1577544"/>
            <a:ext cx="2027484" cy="7315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9326880" y="1471931"/>
            <a:ext cx="2560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1791971"/>
            <a:ext cx="12188952" cy="301752"/>
          </a:xfrm>
          <a:prstGeom prst="rect">
            <a:avLst/>
          </a:prstGeom>
          <a:solidFill>
            <a:srgbClr val="3D7A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164592" y="1791971"/>
            <a:ext cx="64008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2 — Obras e Infraestrutura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772400" y="1833119"/>
            <a:ext cx="689458" cy="21945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7772400" y="1833119"/>
            <a:ext cx="689458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326880" y="1897584"/>
            <a:ext cx="2560320" cy="73152"/>
          </a:xfrm>
          <a:prstGeom prst="rect">
            <a:avLst/>
          </a:prstGeom>
          <a:solidFill>
            <a:srgbClr val="3A6B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Shape 31"/>
          <p:cNvSpPr/>
          <p:nvPr/>
        </p:nvSpPr>
        <p:spPr>
          <a:xfrm>
            <a:off x="9326880" y="1897584"/>
            <a:ext cx="1274093" cy="7315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9326880" y="1791971"/>
            <a:ext cx="2560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0" y="2112011"/>
            <a:ext cx="12188952" cy="301752"/>
          </a:xfrm>
          <a:prstGeom prst="rect">
            <a:avLst/>
          </a:prstGeom>
          <a:solidFill>
            <a:srgbClr val="316A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164592" y="2112011"/>
            <a:ext cx="64008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3 — Educação e Capacitação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772400" y="2153159"/>
            <a:ext cx="623621" cy="21945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7772400" y="2153159"/>
            <a:ext cx="623621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326880" y="2217624"/>
            <a:ext cx="2560320" cy="73152"/>
          </a:xfrm>
          <a:prstGeom prst="rect">
            <a:avLst/>
          </a:prstGeom>
          <a:solidFill>
            <a:srgbClr val="3A6B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9326880" y="2217624"/>
            <a:ext cx="1179263" cy="7315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9326880" y="2112011"/>
            <a:ext cx="2560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2432051"/>
            <a:ext cx="12188952" cy="301752"/>
          </a:xfrm>
          <a:prstGeom prst="rect">
            <a:avLst/>
          </a:prstGeom>
          <a:solidFill>
            <a:srgbClr val="3D7A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164592" y="2432051"/>
            <a:ext cx="64008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4 — Saúde e Saneamento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772400" y="2473199"/>
            <a:ext cx="755294" cy="21945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7772400" y="2473199"/>
            <a:ext cx="755294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326880" y="2537664"/>
            <a:ext cx="2560320" cy="73152"/>
          </a:xfrm>
          <a:prstGeom prst="rect">
            <a:avLst/>
          </a:prstGeom>
          <a:solidFill>
            <a:srgbClr val="3A6B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Shape 45"/>
          <p:cNvSpPr/>
          <p:nvPr/>
        </p:nvSpPr>
        <p:spPr>
          <a:xfrm>
            <a:off x="9326880" y="2537664"/>
            <a:ext cx="1572227" cy="7315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9326880" y="2432051"/>
            <a:ext cx="2560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0" y="2752091"/>
            <a:ext cx="12188952" cy="301752"/>
          </a:xfrm>
          <a:prstGeom prst="rect">
            <a:avLst/>
          </a:prstGeom>
          <a:solidFill>
            <a:srgbClr val="316A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164592" y="2752091"/>
            <a:ext cx="64008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5 — Meio Ambiente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772400" y="2793239"/>
            <a:ext cx="623621" cy="21945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7772400" y="2793239"/>
            <a:ext cx="623621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Dia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9326880" y="2857704"/>
            <a:ext cx="2560320" cy="73152"/>
          </a:xfrm>
          <a:prstGeom prst="rect">
            <a:avLst/>
          </a:prstGeom>
          <a:solidFill>
            <a:srgbClr val="3A6B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Shape 52"/>
          <p:cNvSpPr/>
          <p:nvPr/>
        </p:nvSpPr>
        <p:spPr>
          <a:xfrm>
            <a:off x="9326880" y="2857704"/>
            <a:ext cx="1092983" cy="7315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5" name="Text 53"/>
          <p:cNvSpPr/>
          <p:nvPr/>
        </p:nvSpPr>
        <p:spPr>
          <a:xfrm>
            <a:off x="9326880" y="2752091"/>
            <a:ext cx="2560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0" y="3072131"/>
            <a:ext cx="12188952" cy="301752"/>
          </a:xfrm>
          <a:prstGeom prst="rect">
            <a:avLst/>
          </a:prstGeom>
          <a:solidFill>
            <a:srgbClr val="3D7A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164592" y="3072131"/>
            <a:ext cx="64008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6 — Geração de Renda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772400" y="3113279"/>
            <a:ext cx="689458" cy="21945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7772400" y="3113279"/>
            <a:ext cx="689458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9326880" y="3177744"/>
            <a:ext cx="2560320" cy="73152"/>
          </a:xfrm>
          <a:prstGeom prst="rect">
            <a:avLst/>
          </a:prstGeom>
          <a:solidFill>
            <a:srgbClr val="3A6B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Shape 59"/>
          <p:cNvSpPr/>
          <p:nvPr/>
        </p:nvSpPr>
        <p:spPr>
          <a:xfrm>
            <a:off x="9326880" y="3177744"/>
            <a:ext cx="843009" cy="7315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9326880" y="3072131"/>
            <a:ext cx="2560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0" y="3392171"/>
            <a:ext cx="12188952" cy="301752"/>
          </a:xfrm>
          <a:prstGeom prst="rect">
            <a:avLst/>
          </a:prstGeom>
          <a:solidFill>
            <a:srgbClr val="316A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164592" y="3392171"/>
            <a:ext cx="64008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7 — Cultura e Esporte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772400" y="3433319"/>
            <a:ext cx="623621" cy="21945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7772400" y="3433319"/>
            <a:ext cx="623621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Dia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326880" y="3497784"/>
            <a:ext cx="2560320" cy="73152"/>
          </a:xfrm>
          <a:prstGeom prst="rect">
            <a:avLst/>
          </a:prstGeom>
          <a:solidFill>
            <a:srgbClr val="3A6B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Shape 66"/>
          <p:cNvSpPr/>
          <p:nvPr/>
        </p:nvSpPr>
        <p:spPr>
          <a:xfrm>
            <a:off x="9326880" y="3497784"/>
            <a:ext cx="1687120" cy="7315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9" name="Text 67"/>
          <p:cNvSpPr/>
          <p:nvPr/>
        </p:nvSpPr>
        <p:spPr>
          <a:xfrm>
            <a:off x="9326880" y="3392171"/>
            <a:ext cx="2560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66%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0" y="3712211"/>
            <a:ext cx="12188952" cy="301752"/>
          </a:xfrm>
          <a:prstGeom prst="rect">
            <a:avLst/>
          </a:prstGeom>
          <a:solidFill>
            <a:srgbClr val="3D7A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1" name="Text 69"/>
          <p:cNvSpPr/>
          <p:nvPr/>
        </p:nvSpPr>
        <p:spPr>
          <a:xfrm>
            <a:off x="164592" y="3712211"/>
            <a:ext cx="64008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8 — Habitação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772400" y="3753359"/>
            <a:ext cx="689458" cy="21945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3" name="Text 71"/>
          <p:cNvSpPr/>
          <p:nvPr/>
        </p:nvSpPr>
        <p:spPr>
          <a:xfrm>
            <a:off x="7772400" y="3753359"/>
            <a:ext cx="689458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9326880" y="3817824"/>
            <a:ext cx="2560320" cy="73152"/>
          </a:xfrm>
          <a:prstGeom prst="rect">
            <a:avLst/>
          </a:prstGeom>
          <a:solidFill>
            <a:srgbClr val="3A6B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Shape 73"/>
          <p:cNvSpPr/>
          <p:nvPr/>
        </p:nvSpPr>
        <p:spPr>
          <a:xfrm>
            <a:off x="9326880" y="3817824"/>
            <a:ext cx="814225" cy="7315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6" name="Text 74"/>
          <p:cNvSpPr/>
          <p:nvPr/>
        </p:nvSpPr>
        <p:spPr>
          <a:xfrm>
            <a:off x="9326880" y="3712211"/>
            <a:ext cx="2560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0" y="4032251"/>
            <a:ext cx="12188952" cy="301752"/>
          </a:xfrm>
          <a:prstGeom prst="rect">
            <a:avLst/>
          </a:prstGeom>
          <a:solidFill>
            <a:srgbClr val="316A0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8" name="Text 76"/>
          <p:cNvSpPr/>
          <p:nvPr/>
        </p:nvSpPr>
        <p:spPr>
          <a:xfrm>
            <a:off x="164592" y="4032251"/>
            <a:ext cx="640080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9 — Segurança Alimentar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772400" y="4073399"/>
            <a:ext cx="623621" cy="21945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0" name="Text 78"/>
          <p:cNvSpPr/>
          <p:nvPr/>
        </p:nvSpPr>
        <p:spPr>
          <a:xfrm>
            <a:off x="7772400" y="4073399"/>
            <a:ext cx="623621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Dia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9326880" y="4137864"/>
            <a:ext cx="2560320" cy="73152"/>
          </a:xfrm>
          <a:prstGeom prst="rect">
            <a:avLst/>
          </a:prstGeom>
          <a:solidFill>
            <a:srgbClr val="3A6B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2" name="Shape 80"/>
          <p:cNvSpPr/>
          <p:nvPr/>
        </p:nvSpPr>
        <p:spPr>
          <a:xfrm>
            <a:off x="9326880" y="4137864"/>
            <a:ext cx="1311127" cy="7315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3" name="Text 81"/>
          <p:cNvSpPr/>
          <p:nvPr/>
        </p:nvSpPr>
        <p:spPr>
          <a:xfrm>
            <a:off x="9326880" y="4032251"/>
            <a:ext cx="256032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51%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0" y="0"/>
            <a:ext cx="3474720" cy="36576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5" name="Text 83"/>
          <p:cNvSpPr/>
          <p:nvPr/>
        </p:nvSpPr>
        <p:spPr>
          <a:xfrm>
            <a:off x="137160" y="892031"/>
            <a:ext cx="32004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Barra de navegação e abas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137160" y="1165312"/>
            <a:ext cx="32004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Filtros de eixo, data e status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137160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Linhas de eixo — clique para expandir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498080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Chip de status + barra de progresso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137160" y="6492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da Interface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2E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37160" y="0"/>
            <a:ext cx="32004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DASHBOARD EAP MAZ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0" y="73152"/>
            <a:ext cx="1005840" cy="347472"/>
          </a:xfrm>
          <a:prstGeom prst="rect">
            <a:avLst/>
          </a:prstGeom>
          <a:solidFill>
            <a:srgbClr val="4A9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474720" y="73152"/>
            <a:ext cx="10058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53712" y="73152"/>
            <a:ext cx="1371600" cy="347472"/>
          </a:xfrm>
          <a:prstGeom prst="rect">
            <a:avLst/>
          </a:prstGeom>
          <a:solidFill>
            <a:srgbClr val="2D5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53712" y="73152"/>
            <a:ext cx="137160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98464" y="73152"/>
            <a:ext cx="1828800" cy="347472"/>
          </a:xfrm>
          <a:prstGeom prst="rect">
            <a:avLst/>
          </a:prstGeom>
          <a:solidFill>
            <a:srgbClr val="2D5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98464" y="73152"/>
            <a:ext cx="182880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de Compras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73152"/>
            <a:ext cx="3383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Atualizado: Mai 2026  👤 Admin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0" y="502920"/>
            <a:ext cx="12188952" cy="384048"/>
          </a:xfrm>
          <a:prstGeom prst="rect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7160" y="502920"/>
            <a:ext cx="6858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Filtros: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566928"/>
            <a:ext cx="1196035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4400" y="566928"/>
            <a:ext cx="1196035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Eixos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20163" y="566928"/>
            <a:ext cx="1196035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220163" y="566928"/>
            <a:ext cx="1196035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Dez 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25926" y="566928"/>
            <a:ext cx="1261872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525926" y="566928"/>
            <a:ext cx="126187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Status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566928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Limpar filtros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0" y="886968"/>
            <a:ext cx="12188952" cy="384048"/>
          </a:xfrm>
          <a:prstGeom prst="rect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64592" y="886968"/>
            <a:ext cx="64008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Eixo 2 — Obras e Infraestrutura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0" y="969264"/>
            <a:ext cx="689458" cy="21945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772400" y="969264"/>
            <a:ext cx="689458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0" y="1271016"/>
            <a:ext cx="12188952" cy="256032"/>
          </a:xfrm>
          <a:prstGeom prst="rect">
            <a:avLst/>
          </a:prstGeom>
          <a:solidFill>
            <a:srgbClr val="E2EF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3291840" y="12710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977640" y="12710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663440" y="12710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349240" y="12710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035040" y="12710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720840" y="12710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406640" y="12710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8092440" y="12710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778240" y="12710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9464040" y="12710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149840" y="12710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10835640" y="127101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0" y="1536192"/>
            <a:ext cx="12188952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109728" y="1536192"/>
            <a:ext cx="31089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Pavimentação Rua Principal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18688" y="1600200"/>
            <a:ext cx="763524" cy="1828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3218688" y="1600200"/>
            <a:ext cx="763524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3291840" y="1609344"/>
            <a:ext cx="2697480" cy="192024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Shape 41"/>
          <p:cNvSpPr/>
          <p:nvPr/>
        </p:nvSpPr>
        <p:spPr>
          <a:xfrm>
            <a:off x="0" y="1883664"/>
            <a:ext cx="12188952" cy="338328"/>
          </a:xfrm>
          <a:prstGeom prst="rect">
            <a:avLst/>
          </a:prstGeom>
          <a:solidFill>
            <a:srgbClr val="F1F8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109728" y="1883664"/>
            <a:ext cx="31089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Reforma do Mercado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218688" y="1947672"/>
            <a:ext cx="941832" cy="1828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3218688" y="1947672"/>
            <a:ext cx="94183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4663440" y="1956816"/>
            <a:ext cx="3383280" cy="192024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0" y="2231136"/>
            <a:ext cx="12188952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109728" y="2231136"/>
            <a:ext cx="31089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Ponte sobre o Rio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218688" y="2295144"/>
            <a:ext cx="644652" cy="18288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3218688" y="2295144"/>
            <a:ext cx="64465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6720840" y="2304288"/>
            <a:ext cx="4069080" cy="192024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Shape 51"/>
          <p:cNvSpPr/>
          <p:nvPr/>
        </p:nvSpPr>
        <p:spPr>
          <a:xfrm>
            <a:off x="0" y="2578608"/>
            <a:ext cx="12188952" cy="338328"/>
          </a:xfrm>
          <a:prstGeom prst="rect">
            <a:avLst/>
          </a:prstGeom>
          <a:solidFill>
            <a:srgbClr val="F1F8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109728" y="2578608"/>
            <a:ext cx="31089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Calçamento do Centro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218688" y="2642616"/>
            <a:ext cx="704088" cy="1828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3218688" y="2642616"/>
            <a:ext cx="70408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5349240" y="2651760"/>
            <a:ext cx="2011680" cy="192024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>
            <a:off x="0" y="2926080"/>
            <a:ext cx="12188952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109728" y="2926080"/>
            <a:ext cx="31089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 Rede de Drenagem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218688" y="2990088"/>
            <a:ext cx="941832" cy="18288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3218688" y="2990088"/>
            <a:ext cx="94183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Iniciado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8092440" y="2999232"/>
            <a:ext cx="2697480" cy="192024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Shape 61"/>
          <p:cNvSpPr/>
          <p:nvPr/>
        </p:nvSpPr>
        <p:spPr>
          <a:xfrm>
            <a:off x="0" y="3273552"/>
            <a:ext cx="12188952" cy="338328"/>
          </a:xfrm>
          <a:prstGeom prst="rect">
            <a:avLst/>
          </a:prstGeom>
          <a:solidFill>
            <a:srgbClr val="F1F8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109728" y="3273552"/>
            <a:ext cx="31089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 Praça da Juventude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3218688" y="3337560"/>
            <a:ext cx="941832" cy="18288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3218688" y="3337560"/>
            <a:ext cx="94183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Iniciado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9464040" y="3346704"/>
            <a:ext cx="2011680" cy="192024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Shape 66"/>
          <p:cNvSpPr/>
          <p:nvPr/>
        </p:nvSpPr>
        <p:spPr>
          <a:xfrm>
            <a:off x="6309360" y="1271016"/>
            <a:ext cx="0" cy="2350008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69" name="Text 67"/>
          <p:cNvSpPr/>
          <p:nvPr/>
        </p:nvSpPr>
        <p:spPr>
          <a:xfrm>
            <a:off x="6217920" y="12710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137160" y="65379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Gantt — Cronograma por Atividade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2E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37160" y="0"/>
            <a:ext cx="32004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DASHBOARD EAP MAZ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0" y="73152"/>
            <a:ext cx="1005840" cy="347472"/>
          </a:xfrm>
          <a:prstGeom prst="rect">
            <a:avLst/>
          </a:prstGeom>
          <a:solidFill>
            <a:srgbClr val="2D5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474720" y="73152"/>
            <a:ext cx="10058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53712" y="73152"/>
            <a:ext cx="1371600" cy="347472"/>
          </a:xfrm>
          <a:prstGeom prst="rect">
            <a:avLst/>
          </a:prstGeom>
          <a:solidFill>
            <a:srgbClr val="4A9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53712" y="73152"/>
            <a:ext cx="137160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98464" y="73152"/>
            <a:ext cx="1828800" cy="347472"/>
          </a:xfrm>
          <a:prstGeom prst="rect">
            <a:avLst/>
          </a:prstGeom>
          <a:solidFill>
            <a:srgbClr val="2D5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98464" y="73152"/>
            <a:ext cx="182880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de Compras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73152"/>
            <a:ext cx="3383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Atualizado: Mai 2026  👤 Admin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0" y="502920"/>
            <a:ext cx="12188952" cy="384048"/>
          </a:xfrm>
          <a:prstGeom prst="rect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7160" y="502920"/>
            <a:ext cx="6858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Filtros: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566928"/>
            <a:ext cx="1196035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4400" y="566928"/>
            <a:ext cx="1196035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Eixos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20163" y="566928"/>
            <a:ext cx="1196035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220163" y="566928"/>
            <a:ext cx="1196035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Dez 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25926" y="566928"/>
            <a:ext cx="1261872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525926" y="566928"/>
            <a:ext cx="126187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Status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566928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Limpar filtros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37160" y="960120"/>
            <a:ext cx="1572768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DDDDDD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137160" y="960120"/>
            <a:ext cx="1572768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137160" y="10332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37160" y="1463040"/>
            <a:ext cx="157276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Ações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801368" y="960120"/>
            <a:ext cx="1572768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DDDDDD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1801368" y="960120"/>
            <a:ext cx="1572768" cy="3657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801368" y="10332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801368" y="1463040"/>
            <a:ext cx="157276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Concluídas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65576" y="960120"/>
            <a:ext cx="1572768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DDDDDD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3465576" y="960120"/>
            <a:ext cx="1572768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3465576" y="10332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3465576" y="1463040"/>
            <a:ext cx="157276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129784" y="960120"/>
            <a:ext cx="1572768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DDDDDD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5129784" y="960120"/>
            <a:ext cx="1572768" cy="3657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129784" y="10332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129784" y="1463040"/>
            <a:ext cx="157276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Atenção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793992" y="960120"/>
            <a:ext cx="1572768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DDDDDD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6793992" y="960120"/>
            <a:ext cx="1572768" cy="3657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793992" y="10332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6793992" y="1463040"/>
            <a:ext cx="157276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Atrasadas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8458200" y="960120"/>
            <a:ext cx="1572768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DDDDDD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8458200" y="960120"/>
            <a:ext cx="1572768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8458200" y="10332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8458200" y="1463040"/>
            <a:ext cx="157276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0122408" y="960120"/>
            <a:ext cx="1572768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DDDDDD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10122408" y="960120"/>
            <a:ext cx="1572768" cy="3657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10122408" y="103327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10122408" y="1463040"/>
            <a:ext cx="1572768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Concluído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1993392"/>
            <a:ext cx="12188952" cy="292608"/>
          </a:xfrm>
          <a:prstGeom prst="rect">
            <a:avLst/>
          </a:prstGeom>
          <a:solidFill>
            <a:srgbClr val="E8F4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182880" y="1993392"/>
            <a:ext cx="36576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POR EIXO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2286000"/>
            <a:ext cx="12188952" cy="256032"/>
          </a:xfrm>
          <a:prstGeom prst="rect">
            <a:avLst/>
          </a:prstGeom>
          <a:solidFill>
            <a:srgbClr val="D1E8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137160" y="2286000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914400" y="2286000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669280" y="2286000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686800" y="2286000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0241280" y="2286000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Concl.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0" y="2542032"/>
            <a:ext cx="12188952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137160" y="2542032"/>
            <a:ext cx="7315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1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914400" y="2542032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e Planejamento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669280" y="2606040"/>
            <a:ext cx="585216" cy="1828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5669280" y="2606040"/>
            <a:ext cx="58521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Dia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8686800" y="254203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0241280" y="2542032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0" y="2898648"/>
            <a:ext cx="12188952" cy="347472"/>
          </a:xfrm>
          <a:prstGeom prst="rect">
            <a:avLst/>
          </a:prstGeom>
          <a:solidFill>
            <a:srgbClr val="F8FFF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Text 63"/>
          <p:cNvSpPr/>
          <p:nvPr/>
        </p:nvSpPr>
        <p:spPr>
          <a:xfrm>
            <a:off x="137160" y="2898648"/>
            <a:ext cx="7315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2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914400" y="2898648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Obras e Infraestrutura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669280" y="2962656"/>
            <a:ext cx="644652" cy="18288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Text 66"/>
          <p:cNvSpPr/>
          <p:nvPr/>
        </p:nvSpPr>
        <p:spPr>
          <a:xfrm>
            <a:off x="5669280" y="2962656"/>
            <a:ext cx="64465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8686800" y="2898648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10241280" y="2898648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0" y="3255264"/>
            <a:ext cx="12188952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Text 70"/>
          <p:cNvSpPr/>
          <p:nvPr/>
        </p:nvSpPr>
        <p:spPr>
          <a:xfrm>
            <a:off x="137160" y="3255264"/>
            <a:ext cx="7315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3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914400" y="3255264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e Capacitação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669280" y="3319272"/>
            <a:ext cx="585216" cy="1828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Text 73"/>
          <p:cNvSpPr/>
          <p:nvPr/>
        </p:nvSpPr>
        <p:spPr>
          <a:xfrm>
            <a:off x="5669280" y="3319272"/>
            <a:ext cx="58521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Dia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8686800" y="3255264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10241280" y="3255264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0" y="3611880"/>
            <a:ext cx="12188952" cy="347472"/>
          </a:xfrm>
          <a:prstGeom prst="rect">
            <a:avLst/>
          </a:prstGeom>
          <a:solidFill>
            <a:srgbClr val="F8FFF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9" name="Text 77"/>
          <p:cNvSpPr/>
          <p:nvPr/>
        </p:nvSpPr>
        <p:spPr>
          <a:xfrm>
            <a:off x="137160" y="3611880"/>
            <a:ext cx="7315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4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914400" y="3611880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 e Saneamento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669280" y="3675888"/>
            <a:ext cx="704088" cy="1828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2" name="Text 80"/>
          <p:cNvSpPr/>
          <p:nvPr/>
        </p:nvSpPr>
        <p:spPr>
          <a:xfrm>
            <a:off x="5669280" y="3675888"/>
            <a:ext cx="70408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8686800" y="3611880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3/7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10241280" y="3611880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43%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0" y="3968496"/>
            <a:ext cx="12188952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6" name="Text 84"/>
          <p:cNvSpPr/>
          <p:nvPr/>
        </p:nvSpPr>
        <p:spPr>
          <a:xfrm>
            <a:off x="137160" y="3968496"/>
            <a:ext cx="7315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5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914400" y="3968496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 Ambiente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669280" y="4032504"/>
            <a:ext cx="585216" cy="1828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9" name="Text 87"/>
          <p:cNvSpPr/>
          <p:nvPr/>
        </p:nvSpPr>
        <p:spPr>
          <a:xfrm>
            <a:off x="5669280" y="4032504"/>
            <a:ext cx="58521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8686800" y="3968496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10241280" y="3968496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0" y="4325112"/>
            <a:ext cx="12188952" cy="347472"/>
          </a:xfrm>
          <a:prstGeom prst="rect">
            <a:avLst/>
          </a:prstGeom>
          <a:solidFill>
            <a:srgbClr val="F8FFF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3" name="Text 91"/>
          <p:cNvSpPr/>
          <p:nvPr/>
        </p:nvSpPr>
        <p:spPr>
          <a:xfrm>
            <a:off x="137160" y="4325112"/>
            <a:ext cx="7315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6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914400" y="4325112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Renda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5669280" y="4389120"/>
            <a:ext cx="644652" cy="1828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6" name="Text 94"/>
          <p:cNvSpPr/>
          <p:nvPr/>
        </p:nvSpPr>
        <p:spPr>
          <a:xfrm>
            <a:off x="5669280" y="4389120"/>
            <a:ext cx="64465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8686800" y="4325112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1/6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10241280" y="4325112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0" y="4681728"/>
            <a:ext cx="12188952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0" name="Text 98"/>
          <p:cNvSpPr/>
          <p:nvPr/>
        </p:nvSpPr>
        <p:spPr>
          <a:xfrm>
            <a:off x="137160" y="4681728"/>
            <a:ext cx="7315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7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914400" y="4681728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e Esporte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5669280" y="4745736"/>
            <a:ext cx="585216" cy="1828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3" name="Text 101"/>
          <p:cNvSpPr/>
          <p:nvPr/>
        </p:nvSpPr>
        <p:spPr>
          <a:xfrm>
            <a:off x="5669280" y="4745736"/>
            <a:ext cx="58521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Dia</a:t>
            </a:r>
            <a:endParaRPr lang="en-US" sz="700" dirty="0"/>
          </a:p>
        </p:txBody>
      </p:sp>
      <p:sp>
        <p:nvSpPr>
          <p:cNvPr id="104" name="Text 102"/>
          <p:cNvSpPr/>
          <p:nvPr/>
        </p:nvSpPr>
        <p:spPr>
          <a:xfrm>
            <a:off x="8686800" y="4681728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2/2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10241280" y="4681728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0" y="5038344"/>
            <a:ext cx="12188952" cy="347472"/>
          </a:xfrm>
          <a:prstGeom prst="rect">
            <a:avLst/>
          </a:prstGeom>
          <a:solidFill>
            <a:srgbClr val="F8FFF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7" name="Text 105"/>
          <p:cNvSpPr/>
          <p:nvPr/>
        </p:nvSpPr>
        <p:spPr>
          <a:xfrm>
            <a:off x="137160" y="5038344"/>
            <a:ext cx="7315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8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914400" y="5038344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Habitação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5669280" y="5102352"/>
            <a:ext cx="644652" cy="18288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0" name="Text 108"/>
          <p:cNvSpPr/>
          <p:nvPr/>
        </p:nvSpPr>
        <p:spPr>
          <a:xfrm>
            <a:off x="5669280" y="5102352"/>
            <a:ext cx="64465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8686800" y="5038344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10241280" y="5038344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0" y="5394960"/>
            <a:ext cx="12188952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4" name="Text 112"/>
          <p:cNvSpPr/>
          <p:nvPr/>
        </p:nvSpPr>
        <p:spPr>
          <a:xfrm>
            <a:off x="137160" y="5394960"/>
            <a:ext cx="7315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9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914400" y="5394960"/>
            <a:ext cx="46634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Alimentar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5669280" y="5458968"/>
            <a:ext cx="585216" cy="1828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7" name="Text 115"/>
          <p:cNvSpPr/>
          <p:nvPr/>
        </p:nvSpPr>
        <p:spPr>
          <a:xfrm>
            <a:off x="5669280" y="5458968"/>
            <a:ext cx="585216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Dia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8686800" y="5394960"/>
            <a:ext cx="14630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10241280" y="5394960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137160" y="65379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Status Report — Painel de Controle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2E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37160" y="0"/>
            <a:ext cx="32004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DASHBOARD EAP MAZ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0" y="73152"/>
            <a:ext cx="1005840" cy="347472"/>
          </a:xfrm>
          <a:prstGeom prst="rect">
            <a:avLst/>
          </a:prstGeom>
          <a:solidFill>
            <a:srgbClr val="2D5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474720" y="73152"/>
            <a:ext cx="10058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53712" y="73152"/>
            <a:ext cx="1371600" cy="347472"/>
          </a:xfrm>
          <a:prstGeom prst="rect">
            <a:avLst/>
          </a:prstGeom>
          <a:solidFill>
            <a:srgbClr val="4A9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53712" y="73152"/>
            <a:ext cx="137160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98464" y="73152"/>
            <a:ext cx="1828800" cy="347472"/>
          </a:xfrm>
          <a:prstGeom prst="rect">
            <a:avLst/>
          </a:prstGeom>
          <a:solidFill>
            <a:srgbClr val="2D5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98464" y="73152"/>
            <a:ext cx="182880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de Compras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73152"/>
            <a:ext cx="3383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Atualizado: Mai 2026  👤 Admin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0" y="502920"/>
            <a:ext cx="12188952" cy="384048"/>
          </a:xfrm>
          <a:prstGeom prst="rect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7160" y="502920"/>
            <a:ext cx="6858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Filtros: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566928"/>
            <a:ext cx="1196035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4400" y="566928"/>
            <a:ext cx="1196035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Eixos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20163" y="566928"/>
            <a:ext cx="1196035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220163" y="566928"/>
            <a:ext cx="1196035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Dez 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25926" y="566928"/>
            <a:ext cx="1261872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525926" y="566928"/>
            <a:ext cx="126187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Status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566928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Limpar filtros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0" y="886968"/>
            <a:ext cx="12188952" cy="365760"/>
          </a:xfrm>
          <a:prstGeom prst="rect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164592" y="886968"/>
            <a:ext cx="6400800" cy="3657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Eixo 4 — Saúde e Saneamento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0" y="969264"/>
            <a:ext cx="755294" cy="21945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772400" y="969264"/>
            <a:ext cx="755294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058400" y="886968"/>
            <a:ext cx="201168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BB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Resp.: Secretaria de Saúde  |  Prazo: Dez/2026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0" y="1252728"/>
            <a:ext cx="12188952" cy="274320"/>
          </a:xfrm>
          <a:prstGeom prst="rect">
            <a:avLst/>
          </a:prstGeom>
          <a:solidFill>
            <a:srgbClr val="E8F5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137160" y="1252728"/>
            <a:ext cx="1828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74720" y="1252728"/>
            <a:ext cx="1828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766560" y="1252728"/>
            <a:ext cx="1828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12480" y="1252728"/>
            <a:ext cx="1828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424160" y="1252728"/>
            <a:ext cx="1828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Concl.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1536192"/>
            <a:ext cx="12188952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37160" y="1536192"/>
            <a:ext cx="32918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Ampliação Posto de Saúde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4720" y="1536192"/>
            <a:ext cx="3200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Carvalho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66560" y="1536192"/>
            <a:ext cx="15544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Jun/26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412480" y="1600200"/>
            <a:ext cx="704088" cy="1828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8412480" y="1600200"/>
            <a:ext cx="70408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0424160" y="1536192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1892808"/>
            <a:ext cx="12188952" cy="347472"/>
          </a:xfrm>
          <a:prstGeom prst="rect">
            <a:avLst/>
          </a:prstGeom>
          <a:solidFill>
            <a:srgbClr val="F8FFF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137160" y="1892808"/>
            <a:ext cx="32918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Rede de Abastecimento d'Água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74720" y="1892808"/>
            <a:ext cx="3200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SAAE Municipal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766560" y="1892808"/>
            <a:ext cx="15544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Set/26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412480" y="1956816"/>
            <a:ext cx="941832" cy="1828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8412480" y="1956816"/>
            <a:ext cx="94183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0424160" y="1892808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0" y="2249424"/>
            <a:ext cx="12188952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137160" y="2249424"/>
            <a:ext cx="32918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Saneamento Básico Zona Rural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474720" y="2249424"/>
            <a:ext cx="3200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 Pereira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766560" y="2249424"/>
            <a:ext cx="15544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Dez/26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412480" y="2313432"/>
            <a:ext cx="941832" cy="18288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8412480" y="2313432"/>
            <a:ext cx="94183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Iniciado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10424160" y="2249424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0" y="2606040"/>
            <a:ext cx="12188952" cy="347472"/>
          </a:xfrm>
          <a:prstGeom prst="rect">
            <a:avLst/>
          </a:prstGeom>
          <a:solidFill>
            <a:srgbClr val="F8FFF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137160" y="2606040"/>
            <a:ext cx="32918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Farmácia Popular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3474720" y="2606040"/>
            <a:ext cx="3200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Sec. Saúde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766560" y="2606040"/>
            <a:ext cx="15544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Mar/26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412480" y="2670048"/>
            <a:ext cx="763524" cy="1828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8412480" y="2670048"/>
            <a:ext cx="763524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0424160" y="2606040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0" y="2962656"/>
            <a:ext cx="12188952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137160" y="2962656"/>
            <a:ext cx="32918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Campanha de Vacinação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3474720" y="2962656"/>
            <a:ext cx="3200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PSF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766560" y="2962656"/>
            <a:ext cx="15544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Mai/26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8412480" y="3026664"/>
            <a:ext cx="763524" cy="1828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Text 63"/>
          <p:cNvSpPr/>
          <p:nvPr/>
        </p:nvSpPr>
        <p:spPr>
          <a:xfrm>
            <a:off x="8412480" y="3026664"/>
            <a:ext cx="763524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10424160" y="2962656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0" y="3319272"/>
            <a:ext cx="12188952" cy="347472"/>
          </a:xfrm>
          <a:prstGeom prst="rect">
            <a:avLst/>
          </a:prstGeom>
          <a:solidFill>
            <a:srgbClr val="F8FFF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Text 66"/>
          <p:cNvSpPr/>
          <p:nvPr/>
        </p:nvSpPr>
        <p:spPr>
          <a:xfrm>
            <a:off x="137160" y="3319272"/>
            <a:ext cx="32918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Centro de Especialidades Médicas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474720" y="3319272"/>
            <a:ext cx="3200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Sec. Saúde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6766560" y="3319272"/>
            <a:ext cx="15544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Dez/26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412480" y="3383280"/>
            <a:ext cx="704088" cy="1828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2" name="Text 70"/>
          <p:cNvSpPr/>
          <p:nvPr/>
        </p:nvSpPr>
        <p:spPr>
          <a:xfrm>
            <a:off x="8412480" y="3383280"/>
            <a:ext cx="70408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10424160" y="3319272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0" y="3675888"/>
            <a:ext cx="12188952" cy="3474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5" name="Text 73"/>
          <p:cNvSpPr/>
          <p:nvPr/>
        </p:nvSpPr>
        <p:spPr>
          <a:xfrm>
            <a:off x="137160" y="3675888"/>
            <a:ext cx="329184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4.7 Tratamento de Resíduos Sólidos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3474720" y="3675888"/>
            <a:ext cx="3200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SEMAM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766560" y="3675888"/>
            <a:ext cx="15544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Out/26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412480" y="3739896"/>
            <a:ext cx="941832" cy="1828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9" name="Text 77"/>
          <p:cNvSpPr/>
          <p:nvPr/>
        </p:nvSpPr>
        <p:spPr>
          <a:xfrm>
            <a:off x="8412480" y="3739896"/>
            <a:ext cx="94183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10424160" y="3675888"/>
            <a:ext cx="1371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3716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 — Detalhamento de Eixo (expandido)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2E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37160" y="0"/>
            <a:ext cx="32004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DASHBOARD EAP MAZ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0" y="73152"/>
            <a:ext cx="1005840" cy="347472"/>
          </a:xfrm>
          <a:prstGeom prst="rect">
            <a:avLst/>
          </a:prstGeom>
          <a:solidFill>
            <a:srgbClr val="2D5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474720" y="73152"/>
            <a:ext cx="10058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53712" y="73152"/>
            <a:ext cx="1371600" cy="347472"/>
          </a:xfrm>
          <a:prstGeom prst="rect">
            <a:avLst/>
          </a:prstGeom>
          <a:solidFill>
            <a:srgbClr val="2D5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53712" y="73152"/>
            <a:ext cx="137160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98464" y="73152"/>
            <a:ext cx="1828800" cy="347472"/>
          </a:xfrm>
          <a:prstGeom prst="rect">
            <a:avLst/>
          </a:prstGeom>
          <a:solidFill>
            <a:srgbClr val="4A9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98464" y="73152"/>
            <a:ext cx="182880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de Compras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73152"/>
            <a:ext cx="3383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Atualizado: Mai 2026  👤 Admin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0" y="502920"/>
            <a:ext cx="12188952" cy="384048"/>
          </a:xfrm>
          <a:prstGeom prst="rect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7160" y="502920"/>
            <a:ext cx="6858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Filtros: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566928"/>
            <a:ext cx="1196035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4400" y="566928"/>
            <a:ext cx="1196035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Eixos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20163" y="566928"/>
            <a:ext cx="1196035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220163" y="566928"/>
            <a:ext cx="1196035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Dez 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25926" y="566928"/>
            <a:ext cx="1261872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525926" y="566928"/>
            <a:ext cx="126187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Status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566928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Limpar filtros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932688"/>
            <a:ext cx="17830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DDDDDD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274320" y="932688"/>
            <a:ext cx="1783080" cy="3657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274320" y="1005840"/>
            <a:ext cx="17830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74320" y="1385316"/>
            <a:ext cx="17830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Requisições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21992" y="932688"/>
            <a:ext cx="17830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DDDDDD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2221992" y="932688"/>
            <a:ext cx="1783080" cy="365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2221992" y="1005840"/>
            <a:ext cx="17830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2221992" y="1385316"/>
            <a:ext cx="17830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 (P1)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69664" y="932688"/>
            <a:ext cx="17830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DDDDDD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4169664" y="932688"/>
            <a:ext cx="1783080" cy="365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169664" y="1005840"/>
            <a:ext cx="17830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169664" y="1385316"/>
            <a:ext cx="17830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(P2)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17336" y="932688"/>
            <a:ext cx="17830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DDDDDD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Shape 32"/>
          <p:cNvSpPr/>
          <p:nvPr/>
        </p:nvSpPr>
        <p:spPr>
          <a:xfrm>
            <a:off x="6117336" y="932688"/>
            <a:ext cx="1783080" cy="36576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117336" y="1005840"/>
            <a:ext cx="17830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117336" y="1385316"/>
            <a:ext cx="17830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(P3)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065008" y="932688"/>
            <a:ext cx="17830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DDDDDD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8" name="Shape 36"/>
          <p:cNvSpPr/>
          <p:nvPr/>
        </p:nvSpPr>
        <p:spPr>
          <a:xfrm>
            <a:off x="8065008" y="932688"/>
            <a:ext cx="1783080" cy="36576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8065008" y="1005840"/>
            <a:ext cx="17830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8065008" y="1385316"/>
            <a:ext cx="17830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(P4)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0012680" y="932688"/>
            <a:ext cx="17830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2700000" algn="bl" rotWithShape="0">
              <a:srgbClr val="DDDDDD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2" name="Shape 40"/>
          <p:cNvSpPr/>
          <p:nvPr/>
        </p:nvSpPr>
        <p:spPr>
          <a:xfrm>
            <a:off x="10012680" y="932688"/>
            <a:ext cx="1783080" cy="3657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10012680" y="1005840"/>
            <a:ext cx="178308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10012680" y="1385316"/>
            <a:ext cx="1783080" cy="3291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Prioridade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0" y="1874520"/>
            <a:ext cx="12188952" cy="274320"/>
          </a:xfrm>
          <a:prstGeom prst="rect">
            <a:avLst/>
          </a:prstGeom>
          <a:solidFill>
            <a:srgbClr val="E8F4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18288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POR PRIORIDADE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0" y="2148840"/>
            <a:ext cx="12188952" cy="256032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109728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02920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023360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394960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(R$)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132320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961120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0607040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0" y="2414016"/>
            <a:ext cx="54864" cy="33832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54864" y="2414016"/>
            <a:ext cx="12134088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Text 55"/>
          <p:cNvSpPr/>
          <p:nvPr/>
        </p:nvSpPr>
        <p:spPr>
          <a:xfrm>
            <a:off x="109728" y="2414016"/>
            <a:ext cx="365760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#001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502920" y="2414016"/>
            <a:ext cx="347472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Cimento e areia p/ pavimentação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023360" y="2414016"/>
            <a:ext cx="12801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394960" y="2414016"/>
            <a:ext cx="164592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R$ 45.000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132320" y="2414016"/>
            <a:ext cx="17373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Dep. Obras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961120" y="2478024"/>
            <a:ext cx="704088" cy="1828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8961120" y="2478024"/>
            <a:ext cx="70408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0607040" y="2478024"/>
            <a:ext cx="347472" cy="1828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5" name="Text 63"/>
          <p:cNvSpPr/>
          <p:nvPr/>
        </p:nvSpPr>
        <p:spPr>
          <a:xfrm>
            <a:off x="10607040" y="2478024"/>
            <a:ext cx="34747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0" y="2761488"/>
            <a:ext cx="54864" cy="33832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7" name="Shape 65"/>
          <p:cNvSpPr/>
          <p:nvPr/>
        </p:nvSpPr>
        <p:spPr>
          <a:xfrm>
            <a:off x="54864" y="2761488"/>
            <a:ext cx="12134088" cy="338328"/>
          </a:xfrm>
          <a:prstGeom prst="rect">
            <a:avLst/>
          </a:prstGeom>
          <a:solidFill>
            <a:srgbClr val="F8FFF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8" name="Text 66"/>
          <p:cNvSpPr/>
          <p:nvPr/>
        </p:nvSpPr>
        <p:spPr>
          <a:xfrm>
            <a:off x="109728" y="2761488"/>
            <a:ext cx="365760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#002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02920" y="2761488"/>
            <a:ext cx="347472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Equipamentos para posto de saúde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023360" y="2761488"/>
            <a:ext cx="12801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394960" y="2761488"/>
            <a:ext cx="164592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R$ 120.000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132320" y="2761488"/>
            <a:ext cx="17373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Sec. Saúde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8961120" y="2825496"/>
            <a:ext cx="822960" cy="18288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4" name="Text 72"/>
          <p:cNvSpPr/>
          <p:nvPr/>
        </p:nvSpPr>
        <p:spPr>
          <a:xfrm>
            <a:off x="8961120" y="2825496"/>
            <a:ext cx="82296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Análise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10607040" y="2825496"/>
            <a:ext cx="347472" cy="1828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6" name="Text 74"/>
          <p:cNvSpPr/>
          <p:nvPr/>
        </p:nvSpPr>
        <p:spPr>
          <a:xfrm>
            <a:off x="10607040" y="2825496"/>
            <a:ext cx="34747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0" y="3108960"/>
            <a:ext cx="54864" cy="33832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8" name="Shape 76"/>
          <p:cNvSpPr/>
          <p:nvPr/>
        </p:nvSpPr>
        <p:spPr>
          <a:xfrm>
            <a:off x="54864" y="3108960"/>
            <a:ext cx="12134088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9" name="Text 77"/>
          <p:cNvSpPr/>
          <p:nvPr/>
        </p:nvSpPr>
        <p:spPr>
          <a:xfrm>
            <a:off x="109728" y="3108960"/>
            <a:ext cx="365760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#003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502920" y="3108960"/>
            <a:ext cx="347472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didático 2026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4023360" y="3108960"/>
            <a:ext cx="12801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394960" y="3108960"/>
            <a:ext cx="164592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R$ 18.500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7132320" y="3108960"/>
            <a:ext cx="17373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Sec. Educ.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8961120" y="3172968"/>
            <a:ext cx="704088" cy="1828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5" name="Text 83"/>
          <p:cNvSpPr/>
          <p:nvPr/>
        </p:nvSpPr>
        <p:spPr>
          <a:xfrm>
            <a:off x="8961120" y="3172968"/>
            <a:ext cx="70408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10607040" y="3172968"/>
            <a:ext cx="347472" cy="1828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7" name="Text 85"/>
          <p:cNvSpPr/>
          <p:nvPr/>
        </p:nvSpPr>
        <p:spPr>
          <a:xfrm>
            <a:off x="10607040" y="3172968"/>
            <a:ext cx="34747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0" y="3456432"/>
            <a:ext cx="54864" cy="338328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9" name="Shape 87"/>
          <p:cNvSpPr/>
          <p:nvPr/>
        </p:nvSpPr>
        <p:spPr>
          <a:xfrm>
            <a:off x="54864" y="3456432"/>
            <a:ext cx="12134088" cy="338328"/>
          </a:xfrm>
          <a:prstGeom prst="rect">
            <a:avLst/>
          </a:prstGeom>
          <a:solidFill>
            <a:srgbClr val="F8FFF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0" name="Text 88"/>
          <p:cNvSpPr/>
          <p:nvPr/>
        </p:nvSpPr>
        <p:spPr>
          <a:xfrm>
            <a:off x="109728" y="3456432"/>
            <a:ext cx="365760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#004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502920" y="3456432"/>
            <a:ext cx="347472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Tubulação PVC saneamento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4023360" y="3456432"/>
            <a:ext cx="12801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5394960" y="3456432"/>
            <a:ext cx="164592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R$ 67.000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7132320" y="3456432"/>
            <a:ext cx="17373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SAAE</a:t>
            </a:r>
            <a:endParaRPr lang="en-US" sz="800" dirty="0"/>
          </a:p>
        </p:txBody>
      </p:sp>
      <p:sp>
        <p:nvSpPr>
          <p:cNvPr id="95" name="Shape 93"/>
          <p:cNvSpPr/>
          <p:nvPr/>
        </p:nvSpPr>
        <p:spPr>
          <a:xfrm>
            <a:off x="8961120" y="3520440"/>
            <a:ext cx="704088" cy="18288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6" name="Text 94"/>
          <p:cNvSpPr/>
          <p:nvPr/>
        </p:nvSpPr>
        <p:spPr>
          <a:xfrm>
            <a:off x="8961120" y="3520440"/>
            <a:ext cx="70408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Pendente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10607040" y="3520440"/>
            <a:ext cx="347472" cy="18288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8" name="Text 96"/>
          <p:cNvSpPr/>
          <p:nvPr/>
        </p:nvSpPr>
        <p:spPr>
          <a:xfrm>
            <a:off x="10607040" y="3520440"/>
            <a:ext cx="34747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0" y="3803904"/>
            <a:ext cx="54864" cy="33832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0" name="Shape 98"/>
          <p:cNvSpPr/>
          <p:nvPr/>
        </p:nvSpPr>
        <p:spPr>
          <a:xfrm>
            <a:off x="54864" y="3803904"/>
            <a:ext cx="12134088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1" name="Text 99"/>
          <p:cNvSpPr/>
          <p:nvPr/>
        </p:nvSpPr>
        <p:spPr>
          <a:xfrm>
            <a:off x="109728" y="3803904"/>
            <a:ext cx="365760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#005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502920" y="3803904"/>
            <a:ext cx="347472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Mudas para reflorestamento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4023360" y="3803904"/>
            <a:ext cx="12801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5394960" y="3803904"/>
            <a:ext cx="164592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R$ 8.200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7132320" y="3803904"/>
            <a:ext cx="17373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SEMAM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8961120" y="3867912"/>
            <a:ext cx="704088" cy="1828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7" name="Text 105"/>
          <p:cNvSpPr/>
          <p:nvPr/>
        </p:nvSpPr>
        <p:spPr>
          <a:xfrm>
            <a:off x="8961120" y="3867912"/>
            <a:ext cx="70408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10607040" y="3867912"/>
            <a:ext cx="347472" cy="1828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9" name="Text 107"/>
          <p:cNvSpPr/>
          <p:nvPr/>
        </p:nvSpPr>
        <p:spPr>
          <a:xfrm>
            <a:off x="10607040" y="3867912"/>
            <a:ext cx="34747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0" y="4151376"/>
            <a:ext cx="54864" cy="33832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1" name="Shape 109"/>
          <p:cNvSpPr/>
          <p:nvPr/>
        </p:nvSpPr>
        <p:spPr>
          <a:xfrm>
            <a:off x="54864" y="4151376"/>
            <a:ext cx="12134088" cy="338328"/>
          </a:xfrm>
          <a:prstGeom prst="rect">
            <a:avLst/>
          </a:prstGeom>
          <a:solidFill>
            <a:srgbClr val="F8FFF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2" name="Text 110"/>
          <p:cNvSpPr/>
          <p:nvPr/>
        </p:nvSpPr>
        <p:spPr>
          <a:xfrm>
            <a:off x="109728" y="4151376"/>
            <a:ext cx="365760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#006</a:t>
            </a:r>
            <a:endParaRPr lang="en-US" sz="750" dirty="0"/>
          </a:p>
        </p:txBody>
      </p:sp>
      <p:sp>
        <p:nvSpPr>
          <p:cNvPr id="113" name="Text 111"/>
          <p:cNvSpPr/>
          <p:nvPr/>
        </p:nvSpPr>
        <p:spPr>
          <a:xfrm>
            <a:off x="502920" y="4151376"/>
            <a:ext cx="347472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Computadores lab. informática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4023360" y="4151376"/>
            <a:ext cx="12801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5394960" y="4151376"/>
            <a:ext cx="164592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R$ 32.000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7132320" y="4151376"/>
            <a:ext cx="17373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Sec. Educ.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8961120" y="4215384"/>
            <a:ext cx="704088" cy="1828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8" name="Text 116"/>
          <p:cNvSpPr/>
          <p:nvPr/>
        </p:nvSpPr>
        <p:spPr>
          <a:xfrm>
            <a:off x="8961120" y="4215384"/>
            <a:ext cx="70408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Recusado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10607040" y="4215384"/>
            <a:ext cx="347472" cy="18288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0" name="Text 118"/>
          <p:cNvSpPr/>
          <p:nvPr/>
        </p:nvSpPr>
        <p:spPr>
          <a:xfrm>
            <a:off x="10607040" y="4215384"/>
            <a:ext cx="34747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0" y="4498848"/>
            <a:ext cx="54864" cy="338328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2" name="Shape 120"/>
          <p:cNvSpPr/>
          <p:nvPr/>
        </p:nvSpPr>
        <p:spPr>
          <a:xfrm>
            <a:off x="54864" y="4498848"/>
            <a:ext cx="12134088" cy="33832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3" name="Text 121"/>
          <p:cNvSpPr/>
          <p:nvPr/>
        </p:nvSpPr>
        <p:spPr>
          <a:xfrm>
            <a:off x="109728" y="4498848"/>
            <a:ext cx="365760" cy="3383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#007</a:t>
            </a:r>
            <a:endParaRPr lang="en-US" sz="750" dirty="0"/>
          </a:p>
        </p:txBody>
      </p:sp>
      <p:sp>
        <p:nvSpPr>
          <p:cNvPr id="124" name="Text 122"/>
          <p:cNvSpPr/>
          <p:nvPr/>
        </p:nvSpPr>
        <p:spPr>
          <a:xfrm>
            <a:off x="502920" y="4498848"/>
            <a:ext cx="347472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Sementes e insumos agrícolas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4023360" y="4498848"/>
            <a:ext cx="12801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E9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5394960" y="4498848"/>
            <a:ext cx="164592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R$ 14.700</a:t>
            </a:r>
            <a:endParaRPr lang="en-US" sz="800" dirty="0"/>
          </a:p>
        </p:txBody>
      </p:sp>
      <p:sp>
        <p:nvSpPr>
          <p:cNvPr id="127" name="Text 125"/>
          <p:cNvSpPr/>
          <p:nvPr/>
        </p:nvSpPr>
        <p:spPr>
          <a:xfrm>
            <a:off x="7132320" y="4498848"/>
            <a:ext cx="173736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Sec. Agric.</a:t>
            </a:r>
            <a:endParaRPr lang="en-US" sz="800" dirty="0"/>
          </a:p>
        </p:txBody>
      </p:sp>
      <p:sp>
        <p:nvSpPr>
          <p:cNvPr id="128" name="Shape 126"/>
          <p:cNvSpPr/>
          <p:nvPr/>
        </p:nvSpPr>
        <p:spPr>
          <a:xfrm>
            <a:off x="8961120" y="4562856"/>
            <a:ext cx="822960" cy="18288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9" name="Text 127"/>
          <p:cNvSpPr/>
          <p:nvPr/>
        </p:nvSpPr>
        <p:spPr>
          <a:xfrm>
            <a:off x="8961120" y="4562856"/>
            <a:ext cx="82296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Análise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10607040" y="4562856"/>
            <a:ext cx="347472" cy="18288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1" name="Text 129"/>
          <p:cNvSpPr/>
          <p:nvPr/>
        </p:nvSpPr>
        <p:spPr>
          <a:xfrm>
            <a:off x="10607040" y="4562856"/>
            <a:ext cx="347472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13716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Requisições de Compras — Controle de Prioridades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2E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37160" y="0"/>
            <a:ext cx="32004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DASHBOARD EAP MAZ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0" y="73152"/>
            <a:ext cx="1005840" cy="347472"/>
          </a:xfrm>
          <a:prstGeom prst="rect">
            <a:avLst/>
          </a:prstGeom>
          <a:solidFill>
            <a:srgbClr val="2D5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474720" y="73152"/>
            <a:ext cx="10058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53712" y="73152"/>
            <a:ext cx="1371600" cy="347472"/>
          </a:xfrm>
          <a:prstGeom prst="rect">
            <a:avLst/>
          </a:prstGeom>
          <a:solidFill>
            <a:srgbClr val="4A9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53712" y="73152"/>
            <a:ext cx="137160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98464" y="73152"/>
            <a:ext cx="1828800" cy="347472"/>
          </a:xfrm>
          <a:prstGeom prst="rect">
            <a:avLst/>
          </a:prstGeom>
          <a:solidFill>
            <a:srgbClr val="2D5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98464" y="73152"/>
            <a:ext cx="182880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de Compras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73152"/>
            <a:ext cx="3383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Atualizado: Mai 2026  👤 Admin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68580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 de Status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65760" y="11704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chips de status utilizados no dashboard e seus significados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1600200"/>
            <a:ext cx="114300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E0E0E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65760" y="1600200"/>
            <a:ext cx="73152" cy="5943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48640" y="1778508"/>
            <a:ext cx="623621" cy="219456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548640" y="1778508"/>
            <a:ext cx="623621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Dia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377440" y="1600200"/>
            <a:ext cx="93268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concluída ou em execução conforme planejado, dentro do prazo.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286000"/>
            <a:ext cx="114300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E0E0E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365760" y="2286000"/>
            <a:ext cx="73152" cy="59436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48640" y="2464308"/>
            <a:ext cx="1018642" cy="219456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48640" y="2464308"/>
            <a:ext cx="1018642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377440" y="2286000"/>
            <a:ext cx="93268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iniciada e em execução, com progresso registrado.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971800"/>
            <a:ext cx="114300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E0E0E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365760" y="2971800"/>
            <a:ext cx="73152" cy="594360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548640" y="3150108"/>
            <a:ext cx="689458" cy="219456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48640" y="3150108"/>
            <a:ext cx="689458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377440" y="2971800"/>
            <a:ext cx="93268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com risco de atraso; monitoramento intensificado necessário.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3657600"/>
            <a:ext cx="114300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E0E0E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365760" y="3657600"/>
            <a:ext cx="73152" cy="59436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548640" y="3835908"/>
            <a:ext cx="755294" cy="219456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548640" y="3835908"/>
            <a:ext cx="755294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377440" y="3657600"/>
            <a:ext cx="93268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original já ultrapassado; requer plano de recuperação.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4343400"/>
            <a:ext cx="114300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E0E0E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365760" y="4343400"/>
            <a:ext cx="73152" cy="59436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548640" y="4521708"/>
            <a:ext cx="689458" cy="21945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548640" y="4521708"/>
            <a:ext cx="689458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377440" y="4343400"/>
            <a:ext cx="93268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grave; impacto direto na meta. Intervenção imediata.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65760" y="5029200"/>
            <a:ext cx="114300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E0E0E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0" name="Shape 38"/>
          <p:cNvSpPr/>
          <p:nvPr/>
        </p:nvSpPr>
        <p:spPr>
          <a:xfrm>
            <a:off x="365760" y="5029200"/>
            <a:ext cx="73152" cy="594360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548640" y="5207508"/>
            <a:ext cx="1018642" cy="219456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548640" y="5207508"/>
            <a:ext cx="1018642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Iniciado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377440" y="5029200"/>
            <a:ext cx="93268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ainda não começou. Dentro do prazo previsto de início.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5760" y="5715000"/>
            <a:ext cx="114300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E0E0E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5" name="Shape 43"/>
          <p:cNvSpPr/>
          <p:nvPr/>
        </p:nvSpPr>
        <p:spPr>
          <a:xfrm>
            <a:off x="365760" y="5715000"/>
            <a:ext cx="73152" cy="5943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Shape 44"/>
          <p:cNvSpPr/>
          <p:nvPr/>
        </p:nvSpPr>
        <p:spPr>
          <a:xfrm>
            <a:off x="548640" y="5893308"/>
            <a:ext cx="821131" cy="219456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548640" y="5893308"/>
            <a:ext cx="821131" cy="21945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Cancelado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377440" y="5715000"/>
            <a:ext cx="932688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cancelada formalmente. Não contabilizada no progresso.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3716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 — Chips de Status do Dashboard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2E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37160" y="0"/>
            <a:ext cx="32004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DASHBOARD EAP MAZ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0" y="73152"/>
            <a:ext cx="1005840" cy="347472"/>
          </a:xfrm>
          <a:prstGeom prst="rect">
            <a:avLst/>
          </a:prstGeom>
          <a:solidFill>
            <a:srgbClr val="4A9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474720" y="73152"/>
            <a:ext cx="10058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53712" y="73152"/>
            <a:ext cx="1371600" cy="347472"/>
          </a:xfrm>
          <a:prstGeom prst="rect">
            <a:avLst/>
          </a:prstGeom>
          <a:solidFill>
            <a:srgbClr val="2D5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53712" y="73152"/>
            <a:ext cx="137160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98464" y="73152"/>
            <a:ext cx="1828800" cy="347472"/>
          </a:xfrm>
          <a:prstGeom prst="rect">
            <a:avLst/>
          </a:prstGeom>
          <a:solidFill>
            <a:srgbClr val="2D5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98464" y="73152"/>
            <a:ext cx="182880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de Compras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73152"/>
            <a:ext cx="3383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Atualizado: Mai 2026  👤 Admin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0" y="502920"/>
            <a:ext cx="12188952" cy="384048"/>
          </a:xfrm>
          <a:prstGeom prst="rect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7160" y="502920"/>
            <a:ext cx="6858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Filtros: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566928"/>
            <a:ext cx="1196035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4400" y="566928"/>
            <a:ext cx="1196035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Eixos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20163" y="566928"/>
            <a:ext cx="1196035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220163" y="566928"/>
            <a:ext cx="1196035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Dez 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25926" y="566928"/>
            <a:ext cx="1261872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525926" y="566928"/>
            <a:ext cx="126187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Status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566928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Limpar filtros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10058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 os Filtros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65760" y="160020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E0E0E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57200" y="1600200"/>
            <a:ext cx="5029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5840" y="1645920"/>
            <a:ext cx="45720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Eixo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05840" y="1901952"/>
            <a:ext cx="45720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um ou mais eixos temáticos para focar a visualização. "Todos os Eixos" exibe o panorama completo do projeto.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2532888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E0E0E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57200" y="2532888"/>
            <a:ext cx="5029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5840" y="2578608"/>
            <a:ext cx="45720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Data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05840" y="2834640"/>
            <a:ext cx="45720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intervalo de tempo exibido no Gantt e nos relatórios. Use os campos de data inicial e final para recortar o período.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465576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E0E0E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57200" y="3465576"/>
            <a:ext cx="5029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05840" y="3511296"/>
            <a:ext cx="45720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Status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05840" y="3767328"/>
            <a:ext cx="45720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Exibe apenas ações com o status selecionado. Útil para focar em pendências críticas ou ações em atraso.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398264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E0E0E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57200" y="4398264"/>
            <a:ext cx="5029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005840" y="4443984"/>
            <a:ext cx="45720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Limpar Filtros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05840" y="4700016"/>
            <a:ext cx="45720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 todos os filtros para o estado padrão (todos os eixos, todo o período, todos os status).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035040" y="1600200"/>
            <a:ext cx="5943600" cy="502920"/>
          </a:xfrm>
          <a:prstGeom prst="rect">
            <a:avLst/>
          </a:prstGeom>
          <a:solidFill>
            <a:srgbClr val="2D5C14"/>
          </a:solidFill>
          <a:ln/>
          <a:effectLst>
            <a:outerShdw blurRad="63500" dist="25400" dir="27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172200" y="1600200"/>
            <a:ext cx="82296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Filtros: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86600" y="1673352"/>
            <a:ext cx="1426464" cy="347472"/>
          </a:xfrm>
          <a:prstGeom prst="rect">
            <a:avLst/>
          </a:prstGeom>
          <a:solidFill>
            <a:srgbClr val="3A6B1E"/>
          </a:solidFill>
          <a:ln w="12700">
            <a:solidFill>
              <a:srgbClr val="7AAA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7086600" y="1673352"/>
            <a:ext cx="142646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2 — Obras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650224" y="1673352"/>
            <a:ext cx="1426464" cy="347472"/>
          </a:xfrm>
          <a:prstGeom prst="rect">
            <a:avLst/>
          </a:prstGeom>
          <a:solidFill>
            <a:srgbClr val="3A6B1E"/>
          </a:solidFill>
          <a:ln w="12700">
            <a:solidFill>
              <a:srgbClr val="7AAA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8650224" y="1673352"/>
            <a:ext cx="142646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Jun 2026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213848" y="1673352"/>
            <a:ext cx="932688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7AAA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10213848" y="1673352"/>
            <a:ext cx="93268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35040" y="215798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Resultado: apenas ações atrasadas do Eixo 2 em H1 2026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35040" y="2532888"/>
            <a:ext cx="5943600" cy="292608"/>
          </a:xfrm>
          <a:prstGeom prst="rect">
            <a:avLst/>
          </a:prstGeom>
          <a:solidFill>
            <a:srgbClr val="1A2E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6172200" y="2532888"/>
            <a:ext cx="45720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Eixo 2 — Obras e Infraestrutura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332720" y="2596896"/>
            <a:ext cx="704088" cy="1828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10332720" y="2596896"/>
            <a:ext cx="70408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035040" y="2825496"/>
            <a:ext cx="59436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6144768" y="2825496"/>
            <a:ext cx="36576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Ponte sobre o Rio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332720" y="2880360"/>
            <a:ext cx="704088" cy="1828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10332720" y="2880360"/>
            <a:ext cx="70408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035040" y="3154680"/>
            <a:ext cx="5943600" cy="310896"/>
          </a:xfrm>
          <a:prstGeom prst="rect">
            <a:avLst/>
          </a:prstGeom>
          <a:solidFill>
            <a:srgbClr val="F8FFF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6144768" y="3154680"/>
            <a:ext cx="36576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Calçamento do Centro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0332720" y="3209544"/>
            <a:ext cx="704088" cy="1828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10332720" y="3209544"/>
            <a:ext cx="70408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3716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— Eixo, Data e Status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0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Mobile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7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dashboard é 100% responsivo — funciona em smartphone e tablet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2651760" cy="4846320"/>
          </a:xfrm>
          <a:prstGeom prst="rect">
            <a:avLst/>
          </a:prstGeom>
          <a:solidFill>
            <a:srgbClr val="1A1A2E"/>
          </a:solidFill>
          <a:ln w="1270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12648" y="1645920"/>
            <a:ext cx="2432304" cy="4251960"/>
          </a:xfrm>
          <a:prstGeom prst="rect">
            <a:avLst/>
          </a:prstGeom>
          <a:solidFill>
            <a:srgbClr val="1A2E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1463040" y="1399032"/>
            <a:ext cx="731520" cy="164592"/>
          </a:xfrm>
          <a:prstGeom prst="roundRect">
            <a:avLst/>
          </a:prstGeom>
          <a:solidFill>
            <a:srgbClr val="3333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463040" y="6007608"/>
            <a:ext cx="731520" cy="64008"/>
          </a:xfrm>
          <a:prstGeom prst="rect">
            <a:avLst/>
          </a:prstGeom>
          <a:solidFill>
            <a:srgbClr val="55557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612648" y="1645920"/>
            <a:ext cx="2432304" cy="274320"/>
          </a:xfrm>
          <a:prstGeom prst="rect">
            <a:avLst/>
          </a:prstGeom>
          <a:solidFill>
            <a:srgbClr val="1A2E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12648" y="1645920"/>
            <a:ext cx="2432304" cy="2743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EAP MAZ 2026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612648" y="1920240"/>
            <a:ext cx="2432304" cy="201168"/>
          </a:xfrm>
          <a:prstGeom prst="rect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30936" y="1938528"/>
            <a:ext cx="774192" cy="164592"/>
          </a:xfrm>
          <a:prstGeom prst="rect">
            <a:avLst/>
          </a:prstGeom>
          <a:solidFill>
            <a:srgbClr val="4A9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30936" y="1938528"/>
            <a:ext cx="774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</a:t>
            </a:r>
            <a:endParaRPr lang="en-US" sz="500" dirty="0"/>
          </a:p>
        </p:txBody>
      </p:sp>
      <p:sp>
        <p:nvSpPr>
          <p:cNvPr id="14" name="Shape 12"/>
          <p:cNvSpPr/>
          <p:nvPr/>
        </p:nvSpPr>
        <p:spPr>
          <a:xfrm>
            <a:off x="1441704" y="1938528"/>
            <a:ext cx="774192" cy="164592"/>
          </a:xfrm>
          <a:prstGeom prst="rect">
            <a:avLst/>
          </a:prstGeom>
          <a:solidFill>
            <a:srgbClr val="2D5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441704" y="1938528"/>
            <a:ext cx="774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500" dirty="0"/>
          </a:p>
        </p:txBody>
      </p:sp>
      <p:sp>
        <p:nvSpPr>
          <p:cNvPr id="16" name="Shape 14"/>
          <p:cNvSpPr/>
          <p:nvPr/>
        </p:nvSpPr>
        <p:spPr>
          <a:xfrm>
            <a:off x="2252472" y="1938528"/>
            <a:ext cx="774192" cy="164592"/>
          </a:xfrm>
          <a:prstGeom prst="rect">
            <a:avLst/>
          </a:prstGeom>
          <a:solidFill>
            <a:srgbClr val="2D5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252472" y="1938528"/>
            <a:ext cx="774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Req.</a:t>
            </a:r>
            <a:endParaRPr lang="en-US" sz="500" dirty="0"/>
          </a:p>
        </p:txBody>
      </p:sp>
      <p:sp>
        <p:nvSpPr>
          <p:cNvPr id="18" name="Shape 16"/>
          <p:cNvSpPr/>
          <p:nvPr/>
        </p:nvSpPr>
        <p:spPr>
          <a:xfrm>
            <a:off x="612648" y="2130552"/>
            <a:ext cx="2432304" cy="265176"/>
          </a:xfrm>
          <a:prstGeom prst="rect">
            <a:avLst/>
          </a:prstGeom>
          <a:solidFill>
            <a:srgbClr val="2A480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58368" y="2130552"/>
            <a:ext cx="228600" cy="2651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</a:t>
            </a:r>
            <a:endParaRPr lang="en-US" sz="550" dirty="0"/>
          </a:p>
        </p:txBody>
      </p:sp>
      <p:sp>
        <p:nvSpPr>
          <p:cNvPr id="20" name="Shape 18"/>
          <p:cNvSpPr/>
          <p:nvPr/>
        </p:nvSpPr>
        <p:spPr>
          <a:xfrm>
            <a:off x="2542032" y="2176272"/>
            <a:ext cx="457200" cy="16459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2542032" y="21762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Dia</a:t>
            </a:r>
            <a:endParaRPr lang="en-US" sz="400" dirty="0"/>
          </a:p>
        </p:txBody>
      </p:sp>
      <p:sp>
        <p:nvSpPr>
          <p:cNvPr id="22" name="Shape 20"/>
          <p:cNvSpPr/>
          <p:nvPr/>
        </p:nvSpPr>
        <p:spPr>
          <a:xfrm>
            <a:off x="612648" y="2414016"/>
            <a:ext cx="2432304" cy="265176"/>
          </a:xfrm>
          <a:prstGeom prst="rect">
            <a:avLst/>
          </a:prstGeom>
          <a:solidFill>
            <a:srgbClr val="2D52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58368" y="2414016"/>
            <a:ext cx="228600" cy="2651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2542032" y="2459736"/>
            <a:ext cx="457200" cy="16459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2542032" y="245973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</a:t>
            </a:r>
            <a:endParaRPr lang="en-US" sz="400" dirty="0"/>
          </a:p>
        </p:txBody>
      </p:sp>
      <p:sp>
        <p:nvSpPr>
          <p:cNvPr id="26" name="Shape 24"/>
          <p:cNvSpPr/>
          <p:nvPr/>
        </p:nvSpPr>
        <p:spPr>
          <a:xfrm>
            <a:off x="612648" y="2697480"/>
            <a:ext cx="2432304" cy="265176"/>
          </a:xfrm>
          <a:prstGeom prst="rect">
            <a:avLst/>
          </a:prstGeom>
          <a:solidFill>
            <a:srgbClr val="2A480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58368" y="2697480"/>
            <a:ext cx="228600" cy="2651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</a:t>
            </a:r>
            <a:endParaRPr lang="en-US" sz="550" dirty="0"/>
          </a:p>
        </p:txBody>
      </p:sp>
      <p:sp>
        <p:nvSpPr>
          <p:cNvPr id="28" name="Shape 26"/>
          <p:cNvSpPr/>
          <p:nvPr/>
        </p:nvSpPr>
        <p:spPr>
          <a:xfrm>
            <a:off x="2542032" y="2743200"/>
            <a:ext cx="457200" cy="16459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2542032" y="274320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Dia</a:t>
            </a:r>
            <a:endParaRPr lang="en-US" sz="400" dirty="0"/>
          </a:p>
        </p:txBody>
      </p:sp>
      <p:sp>
        <p:nvSpPr>
          <p:cNvPr id="30" name="Shape 28"/>
          <p:cNvSpPr/>
          <p:nvPr/>
        </p:nvSpPr>
        <p:spPr>
          <a:xfrm>
            <a:off x="612648" y="2980944"/>
            <a:ext cx="2432304" cy="265176"/>
          </a:xfrm>
          <a:prstGeom prst="rect">
            <a:avLst/>
          </a:prstGeom>
          <a:solidFill>
            <a:srgbClr val="2D52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658368" y="2980944"/>
            <a:ext cx="228600" cy="2651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</a:t>
            </a:r>
            <a:endParaRPr lang="en-US" sz="550" dirty="0"/>
          </a:p>
        </p:txBody>
      </p:sp>
      <p:sp>
        <p:nvSpPr>
          <p:cNvPr id="32" name="Shape 30"/>
          <p:cNvSpPr/>
          <p:nvPr/>
        </p:nvSpPr>
        <p:spPr>
          <a:xfrm>
            <a:off x="2542032" y="3026664"/>
            <a:ext cx="457200" cy="16459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2542032" y="302666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</a:t>
            </a:r>
            <a:endParaRPr lang="en-US" sz="400" dirty="0"/>
          </a:p>
        </p:txBody>
      </p:sp>
      <p:sp>
        <p:nvSpPr>
          <p:cNvPr id="34" name="Shape 32"/>
          <p:cNvSpPr/>
          <p:nvPr/>
        </p:nvSpPr>
        <p:spPr>
          <a:xfrm>
            <a:off x="612648" y="3264408"/>
            <a:ext cx="2432304" cy="265176"/>
          </a:xfrm>
          <a:prstGeom prst="rect">
            <a:avLst/>
          </a:prstGeom>
          <a:solidFill>
            <a:srgbClr val="2A480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58368" y="3264408"/>
            <a:ext cx="228600" cy="2651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</a:t>
            </a:r>
            <a:endParaRPr lang="en-US" sz="550" dirty="0"/>
          </a:p>
        </p:txBody>
      </p:sp>
      <p:sp>
        <p:nvSpPr>
          <p:cNvPr id="36" name="Shape 34"/>
          <p:cNvSpPr/>
          <p:nvPr/>
        </p:nvSpPr>
        <p:spPr>
          <a:xfrm>
            <a:off x="2542032" y="3310128"/>
            <a:ext cx="457200" cy="16459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2542032" y="3310128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Dia</a:t>
            </a:r>
            <a:endParaRPr lang="en-US" sz="400" dirty="0"/>
          </a:p>
        </p:txBody>
      </p:sp>
      <p:sp>
        <p:nvSpPr>
          <p:cNvPr id="38" name="Shape 36"/>
          <p:cNvSpPr/>
          <p:nvPr/>
        </p:nvSpPr>
        <p:spPr>
          <a:xfrm>
            <a:off x="612648" y="3547872"/>
            <a:ext cx="2432304" cy="265176"/>
          </a:xfrm>
          <a:prstGeom prst="rect">
            <a:avLst/>
          </a:prstGeom>
          <a:solidFill>
            <a:srgbClr val="2D52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58368" y="3547872"/>
            <a:ext cx="228600" cy="2651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</a:t>
            </a:r>
            <a:endParaRPr lang="en-US" sz="550" dirty="0"/>
          </a:p>
        </p:txBody>
      </p:sp>
      <p:sp>
        <p:nvSpPr>
          <p:cNvPr id="40" name="Shape 38"/>
          <p:cNvSpPr/>
          <p:nvPr/>
        </p:nvSpPr>
        <p:spPr>
          <a:xfrm>
            <a:off x="2542032" y="3593592"/>
            <a:ext cx="457200" cy="164592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2542032" y="35935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</a:t>
            </a:r>
            <a:endParaRPr lang="en-US" sz="400" dirty="0"/>
          </a:p>
        </p:txBody>
      </p:sp>
      <p:sp>
        <p:nvSpPr>
          <p:cNvPr id="42" name="Shape 40"/>
          <p:cNvSpPr/>
          <p:nvPr/>
        </p:nvSpPr>
        <p:spPr>
          <a:xfrm>
            <a:off x="612648" y="3831336"/>
            <a:ext cx="2432304" cy="265176"/>
          </a:xfrm>
          <a:prstGeom prst="rect">
            <a:avLst/>
          </a:prstGeom>
          <a:solidFill>
            <a:srgbClr val="2A480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658368" y="3831336"/>
            <a:ext cx="228600" cy="2651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E7</a:t>
            </a:r>
            <a:endParaRPr lang="en-US" sz="550" dirty="0"/>
          </a:p>
        </p:txBody>
      </p:sp>
      <p:sp>
        <p:nvSpPr>
          <p:cNvPr id="44" name="Shape 42"/>
          <p:cNvSpPr/>
          <p:nvPr/>
        </p:nvSpPr>
        <p:spPr>
          <a:xfrm>
            <a:off x="2542032" y="3877056"/>
            <a:ext cx="457200" cy="16459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2542032" y="387705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Dia</a:t>
            </a:r>
            <a:endParaRPr lang="en-US" sz="400" dirty="0"/>
          </a:p>
        </p:txBody>
      </p:sp>
      <p:sp>
        <p:nvSpPr>
          <p:cNvPr id="46" name="Shape 44"/>
          <p:cNvSpPr/>
          <p:nvPr/>
        </p:nvSpPr>
        <p:spPr>
          <a:xfrm>
            <a:off x="612648" y="4114800"/>
            <a:ext cx="2432304" cy="265176"/>
          </a:xfrm>
          <a:prstGeom prst="rect">
            <a:avLst/>
          </a:prstGeom>
          <a:solidFill>
            <a:srgbClr val="2D521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658368" y="4114800"/>
            <a:ext cx="228600" cy="2651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E8</a:t>
            </a:r>
            <a:endParaRPr lang="en-US" sz="550" dirty="0"/>
          </a:p>
        </p:txBody>
      </p:sp>
      <p:sp>
        <p:nvSpPr>
          <p:cNvPr id="48" name="Shape 46"/>
          <p:cNvSpPr/>
          <p:nvPr/>
        </p:nvSpPr>
        <p:spPr>
          <a:xfrm>
            <a:off x="2542032" y="4160520"/>
            <a:ext cx="457200" cy="164592"/>
          </a:xfrm>
          <a:prstGeom prst="rect">
            <a:avLst/>
          </a:prstGeom>
          <a:solidFill>
            <a:srgbClr val="CA8A0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2542032" y="416052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</a:t>
            </a:r>
            <a:endParaRPr lang="en-US" sz="400" dirty="0"/>
          </a:p>
        </p:txBody>
      </p:sp>
      <p:sp>
        <p:nvSpPr>
          <p:cNvPr id="50" name="Shape 48"/>
          <p:cNvSpPr/>
          <p:nvPr/>
        </p:nvSpPr>
        <p:spPr>
          <a:xfrm>
            <a:off x="612648" y="4398264"/>
            <a:ext cx="2432304" cy="265176"/>
          </a:xfrm>
          <a:prstGeom prst="rect">
            <a:avLst/>
          </a:prstGeom>
          <a:solidFill>
            <a:srgbClr val="2A480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1" name="Text 49"/>
          <p:cNvSpPr/>
          <p:nvPr/>
        </p:nvSpPr>
        <p:spPr>
          <a:xfrm>
            <a:off x="658368" y="4398264"/>
            <a:ext cx="228600" cy="265176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E9</a:t>
            </a:r>
            <a:endParaRPr lang="en-US" sz="550" dirty="0"/>
          </a:p>
        </p:txBody>
      </p:sp>
      <p:sp>
        <p:nvSpPr>
          <p:cNvPr id="52" name="Shape 50"/>
          <p:cNvSpPr/>
          <p:nvPr/>
        </p:nvSpPr>
        <p:spPr>
          <a:xfrm>
            <a:off x="2542032" y="4443984"/>
            <a:ext cx="457200" cy="16459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2542032" y="444398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Dia</a:t>
            </a:r>
            <a:endParaRPr lang="en-US" sz="400" dirty="0"/>
          </a:p>
        </p:txBody>
      </p:sp>
      <p:sp>
        <p:nvSpPr>
          <p:cNvPr id="54" name="Text 52"/>
          <p:cNvSpPr/>
          <p:nvPr/>
        </p:nvSpPr>
        <p:spPr>
          <a:xfrm>
            <a:off x="914400" y="6245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iPhone / Android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474720" y="1417320"/>
            <a:ext cx="5029200" cy="4389120"/>
          </a:xfrm>
          <a:prstGeom prst="rect">
            <a:avLst/>
          </a:prstGeom>
          <a:solidFill>
            <a:srgbClr val="1A1A2E"/>
          </a:solidFill>
          <a:ln w="12700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Shape 54"/>
          <p:cNvSpPr/>
          <p:nvPr/>
        </p:nvSpPr>
        <p:spPr>
          <a:xfrm>
            <a:off x="3611880" y="1673352"/>
            <a:ext cx="4754880" cy="3886200"/>
          </a:xfrm>
          <a:prstGeom prst="rect">
            <a:avLst/>
          </a:prstGeom>
          <a:solidFill>
            <a:srgbClr val="1A2E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7" name="Shape 55"/>
          <p:cNvSpPr/>
          <p:nvPr/>
        </p:nvSpPr>
        <p:spPr>
          <a:xfrm>
            <a:off x="8302752" y="3493008"/>
            <a:ext cx="164592" cy="164592"/>
          </a:xfrm>
          <a:prstGeom prst="ellipse">
            <a:avLst/>
          </a:prstGeom>
          <a:solidFill>
            <a:srgbClr val="3333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Shape 56"/>
          <p:cNvSpPr/>
          <p:nvPr/>
        </p:nvSpPr>
        <p:spPr>
          <a:xfrm>
            <a:off x="3611880" y="1673352"/>
            <a:ext cx="4754880" cy="320040"/>
          </a:xfrm>
          <a:prstGeom prst="rect">
            <a:avLst/>
          </a:prstGeom>
          <a:solidFill>
            <a:srgbClr val="1A2E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57"/>
          <p:cNvSpPr/>
          <p:nvPr/>
        </p:nvSpPr>
        <p:spPr>
          <a:xfrm>
            <a:off x="3611880" y="1673352"/>
            <a:ext cx="475488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Dashboard EAP MAZ 2026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3611880" y="1993392"/>
            <a:ext cx="4754880" cy="256032"/>
          </a:xfrm>
          <a:prstGeom prst="rect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1" name="Text 59"/>
          <p:cNvSpPr/>
          <p:nvPr/>
        </p:nvSpPr>
        <p:spPr>
          <a:xfrm>
            <a:off x="3611880" y="1993392"/>
            <a:ext cx="47548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Eixo 4 — Saúde  ×  Atrasado  ×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3611880" y="2249424"/>
            <a:ext cx="4754880" cy="201168"/>
          </a:xfrm>
          <a:prstGeom prst="rect">
            <a:avLst/>
          </a:prstGeom>
          <a:solidFill>
            <a:srgbClr val="D1E8C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3886200" y="2249424"/>
            <a:ext cx="373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550" dirty="0"/>
          </a:p>
        </p:txBody>
      </p:sp>
      <p:sp>
        <p:nvSpPr>
          <p:cNvPr id="64" name="Text 62"/>
          <p:cNvSpPr/>
          <p:nvPr/>
        </p:nvSpPr>
        <p:spPr>
          <a:xfrm>
            <a:off x="4259580" y="2249424"/>
            <a:ext cx="373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550" dirty="0"/>
          </a:p>
        </p:txBody>
      </p:sp>
      <p:sp>
        <p:nvSpPr>
          <p:cNvPr id="65" name="Text 63"/>
          <p:cNvSpPr/>
          <p:nvPr/>
        </p:nvSpPr>
        <p:spPr>
          <a:xfrm>
            <a:off x="4632960" y="2249424"/>
            <a:ext cx="373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550" dirty="0"/>
          </a:p>
        </p:txBody>
      </p:sp>
      <p:sp>
        <p:nvSpPr>
          <p:cNvPr id="66" name="Text 64"/>
          <p:cNvSpPr/>
          <p:nvPr/>
        </p:nvSpPr>
        <p:spPr>
          <a:xfrm>
            <a:off x="5006340" y="2249424"/>
            <a:ext cx="373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50" dirty="0"/>
          </a:p>
        </p:txBody>
      </p:sp>
      <p:sp>
        <p:nvSpPr>
          <p:cNvPr id="67" name="Text 65"/>
          <p:cNvSpPr/>
          <p:nvPr/>
        </p:nvSpPr>
        <p:spPr>
          <a:xfrm>
            <a:off x="5379720" y="2249424"/>
            <a:ext cx="373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550" dirty="0"/>
          </a:p>
        </p:txBody>
      </p:sp>
      <p:sp>
        <p:nvSpPr>
          <p:cNvPr id="68" name="Text 66"/>
          <p:cNvSpPr/>
          <p:nvPr/>
        </p:nvSpPr>
        <p:spPr>
          <a:xfrm>
            <a:off x="5753100" y="2249424"/>
            <a:ext cx="373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550" dirty="0"/>
          </a:p>
        </p:txBody>
      </p:sp>
      <p:sp>
        <p:nvSpPr>
          <p:cNvPr id="69" name="Text 67"/>
          <p:cNvSpPr/>
          <p:nvPr/>
        </p:nvSpPr>
        <p:spPr>
          <a:xfrm>
            <a:off x="6126480" y="2249424"/>
            <a:ext cx="373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550" dirty="0"/>
          </a:p>
        </p:txBody>
      </p:sp>
      <p:sp>
        <p:nvSpPr>
          <p:cNvPr id="70" name="Text 68"/>
          <p:cNvSpPr/>
          <p:nvPr/>
        </p:nvSpPr>
        <p:spPr>
          <a:xfrm>
            <a:off x="6499860" y="2249424"/>
            <a:ext cx="373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550" dirty="0"/>
          </a:p>
        </p:txBody>
      </p:sp>
      <p:sp>
        <p:nvSpPr>
          <p:cNvPr id="71" name="Text 69"/>
          <p:cNvSpPr/>
          <p:nvPr/>
        </p:nvSpPr>
        <p:spPr>
          <a:xfrm>
            <a:off x="6873240" y="2249424"/>
            <a:ext cx="373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550" dirty="0"/>
          </a:p>
        </p:txBody>
      </p:sp>
      <p:sp>
        <p:nvSpPr>
          <p:cNvPr id="72" name="Text 70"/>
          <p:cNvSpPr/>
          <p:nvPr/>
        </p:nvSpPr>
        <p:spPr>
          <a:xfrm>
            <a:off x="7246620" y="2249424"/>
            <a:ext cx="373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550" dirty="0"/>
          </a:p>
        </p:txBody>
      </p:sp>
      <p:sp>
        <p:nvSpPr>
          <p:cNvPr id="73" name="Text 71"/>
          <p:cNvSpPr/>
          <p:nvPr/>
        </p:nvSpPr>
        <p:spPr>
          <a:xfrm>
            <a:off x="7620000" y="2249424"/>
            <a:ext cx="373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550" dirty="0"/>
          </a:p>
        </p:txBody>
      </p:sp>
      <p:sp>
        <p:nvSpPr>
          <p:cNvPr id="74" name="Text 72"/>
          <p:cNvSpPr/>
          <p:nvPr/>
        </p:nvSpPr>
        <p:spPr>
          <a:xfrm>
            <a:off x="7993380" y="2249424"/>
            <a:ext cx="3733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3611880" y="2459736"/>
            <a:ext cx="47548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6" name="Text 74"/>
          <p:cNvSpPr/>
          <p:nvPr/>
        </p:nvSpPr>
        <p:spPr>
          <a:xfrm>
            <a:off x="3648456" y="2459736"/>
            <a:ext cx="1176833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Ampliação Posto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4259580" y="2523744"/>
            <a:ext cx="1466088" cy="164592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8" name="Shape 76"/>
          <p:cNvSpPr/>
          <p:nvPr/>
        </p:nvSpPr>
        <p:spPr>
          <a:xfrm>
            <a:off x="3611880" y="2770632"/>
            <a:ext cx="4754880" cy="292608"/>
          </a:xfrm>
          <a:prstGeom prst="rect">
            <a:avLst/>
          </a:prstGeom>
          <a:solidFill>
            <a:srgbClr val="F1F8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9" name="Text 77"/>
          <p:cNvSpPr/>
          <p:nvPr/>
        </p:nvSpPr>
        <p:spPr>
          <a:xfrm>
            <a:off x="3648456" y="2770632"/>
            <a:ext cx="1176833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Rede d'Água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5006340" y="2834640"/>
            <a:ext cx="1839468" cy="16459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1" name="Shape 79"/>
          <p:cNvSpPr/>
          <p:nvPr/>
        </p:nvSpPr>
        <p:spPr>
          <a:xfrm>
            <a:off x="3611880" y="3081528"/>
            <a:ext cx="47548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2" name="Text 80"/>
          <p:cNvSpPr/>
          <p:nvPr/>
        </p:nvSpPr>
        <p:spPr>
          <a:xfrm>
            <a:off x="3648456" y="3081528"/>
            <a:ext cx="1176833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Saneamento Rural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6126480" y="3145536"/>
            <a:ext cx="2212848" cy="164592"/>
          </a:xfrm>
          <a:prstGeom prst="rect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4" name="Shape 82"/>
          <p:cNvSpPr/>
          <p:nvPr/>
        </p:nvSpPr>
        <p:spPr>
          <a:xfrm>
            <a:off x="3611880" y="3392424"/>
            <a:ext cx="4754880" cy="292608"/>
          </a:xfrm>
          <a:prstGeom prst="rect">
            <a:avLst/>
          </a:prstGeom>
          <a:solidFill>
            <a:srgbClr val="F1F8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5" name="Text 83"/>
          <p:cNvSpPr/>
          <p:nvPr/>
        </p:nvSpPr>
        <p:spPr>
          <a:xfrm>
            <a:off x="3648456" y="3392424"/>
            <a:ext cx="1176833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Farmácia Popular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3886200" y="3456432"/>
            <a:ext cx="1092708" cy="16459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7" name="Shape 85"/>
          <p:cNvSpPr/>
          <p:nvPr/>
        </p:nvSpPr>
        <p:spPr>
          <a:xfrm>
            <a:off x="3611880" y="3703320"/>
            <a:ext cx="475488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8" name="Text 86"/>
          <p:cNvSpPr/>
          <p:nvPr/>
        </p:nvSpPr>
        <p:spPr>
          <a:xfrm>
            <a:off x="3648456" y="3703320"/>
            <a:ext cx="1176833" cy="29260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Campanha Vacina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4632960" y="3767328"/>
            <a:ext cx="719328" cy="164592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0" name="Text 88"/>
          <p:cNvSpPr/>
          <p:nvPr/>
        </p:nvSpPr>
        <p:spPr>
          <a:xfrm>
            <a:off x="5074920" y="5879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7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iPad / Tablet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877824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no Mobile</a:t>
            </a:r>
            <a:endParaRPr lang="en-US" sz="1400" dirty="0"/>
          </a:p>
        </p:txBody>
      </p:sp>
      <p:sp>
        <p:nvSpPr>
          <p:cNvPr id="92" name="Text 90"/>
          <p:cNvSpPr/>
          <p:nvPr/>
        </p:nvSpPr>
        <p:spPr>
          <a:xfrm>
            <a:off x="8686800" y="1874520"/>
            <a:ext cx="3383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7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Layout adaptável — todos os elementos reposicionam automaticamente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8686800" y="2350008"/>
            <a:ext cx="3383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7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Toque nos chips de status para filtrar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8686800" y="2825496"/>
            <a:ext cx="3383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7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Deslize horizontalmente no Gantt para navegar pelo ano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8686800" y="3300984"/>
            <a:ext cx="3383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7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Sem instalação — acesso pelo navegador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8686800" y="3776472"/>
            <a:ext cx="33832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A7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Funciona offline após primeiro carregamento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13716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Mobile — Responsivo para todos os dispositivos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2E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91440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Como Publicar Atualizações no Dashboard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 GitHub Desktop — sem terminal, sem linha de comando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79576"/>
            <a:ext cx="502920" cy="502920"/>
          </a:xfrm>
          <a:prstGeom prst="ellipse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274320" y="1179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25780" y="1682496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868680" y="1051560"/>
            <a:ext cx="73152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E0E0E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60120" y="1106424"/>
            <a:ext cx="71323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Abra o GitHub Desktop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399032"/>
            <a:ext cx="7132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instalação e login com a conta do projeto (exposicoeseprojetos@gmail.com), o app abrirá mostrando o repositório clonado.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502920" cy="502920"/>
          </a:xfrm>
          <a:prstGeom prst="ellipse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743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25780" y="2560320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68680" y="1929384"/>
            <a:ext cx="73152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E0E0E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60120" y="1984248"/>
            <a:ext cx="71323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Edite os arquivos localmente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276856"/>
            <a:ext cx="7132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as alterações nos arquivos do dashboard (ex: gerar_dashboard.py ou dados do Excel) usando qualquer editor de texto.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935224"/>
            <a:ext cx="502920" cy="502920"/>
          </a:xfrm>
          <a:prstGeom prst="ellipse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274320" y="2935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25780" y="3438144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868680" y="2807208"/>
            <a:ext cx="73152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E0E0E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960120" y="2862072"/>
            <a:ext cx="71323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Revise as mudanças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154680"/>
            <a:ext cx="7132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GitHub Desktop lista todos os arquivos alterados. Confira cada mudança antes de confirmar.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813048"/>
            <a:ext cx="502920" cy="502920"/>
          </a:xfrm>
          <a:prstGeom prst="ellipse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274320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25780" y="4315968"/>
            <a:ext cx="0" cy="2743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868680" y="3685032"/>
            <a:ext cx="73152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E0E0E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960120" y="3739896"/>
            <a:ext cx="71323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Escreva um commit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60120" y="4032504"/>
            <a:ext cx="7132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campo "Summary", descreva a alteração (ex: "Atualiza dados de Junho 2026"). Clique em "Commit to main".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690872"/>
            <a:ext cx="502920" cy="502920"/>
          </a:xfrm>
          <a:prstGeom prst="ellipse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274320" y="46908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68680" y="4562856"/>
            <a:ext cx="7315200" cy="804672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2700000" algn="bl" rotWithShape="0">
              <a:srgbClr val="E0E0E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960120" y="4617720"/>
            <a:ext cx="713232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Publique com Push Origin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4910328"/>
            <a:ext cx="71323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botão "Push origin" para enviar as mudanças ao GitHub. Em ~2 minutos o site é atualizado automaticamente.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503920" y="640080"/>
            <a:ext cx="3520440" cy="5303520"/>
          </a:xfrm>
          <a:prstGeom prst="rect">
            <a:avLst/>
          </a:prstGeom>
          <a:solidFill>
            <a:srgbClr val="24292E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8503920" y="640080"/>
            <a:ext cx="3520440" cy="320040"/>
          </a:xfrm>
          <a:prstGeom prst="rect">
            <a:avLst/>
          </a:prstGeom>
          <a:solidFill>
            <a:srgbClr val="1C202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8613648" y="640080"/>
            <a:ext cx="50292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503920" y="640080"/>
            <a:ext cx="3520440" cy="3200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Desktop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503920" y="960120"/>
            <a:ext cx="3520440" cy="347472"/>
          </a:xfrm>
          <a:prstGeom prst="rect">
            <a:avLst/>
          </a:prstGeom>
          <a:solidFill>
            <a:srgbClr val="2D33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8613648" y="960120"/>
            <a:ext cx="330098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⎇ main  ↻  ↑ Push origin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503920" y="1307592"/>
            <a:ext cx="3520440" cy="256032"/>
          </a:xfrm>
          <a:prstGeom prst="rect">
            <a:avLst/>
          </a:prstGeom>
          <a:solidFill>
            <a:srgbClr val="2D33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8613648" y="1307592"/>
            <a:ext cx="22860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 (3)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503920" y="1563624"/>
            <a:ext cx="3520440" cy="274320"/>
          </a:xfrm>
          <a:prstGeom prst="rect">
            <a:avLst/>
          </a:prstGeom>
          <a:solidFill>
            <a:srgbClr val="1E22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8613648" y="1627632"/>
            <a:ext cx="146304" cy="146304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8823960" y="1563624"/>
            <a:ext cx="3063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gerar_dashboard.py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11768328" y="1563624"/>
            <a:ext cx="20116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503920" y="1856232"/>
            <a:ext cx="3520440" cy="274320"/>
          </a:xfrm>
          <a:prstGeom prst="rect">
            <a:avLst/>
          </a:prstGeom>
          <a:solidFill>
            <a:srgbClr val="2228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Shape 46"/>
          <p:cNvSpPr/>
          <p:nvPr/>
        </p:nvSpPr>
        <p:spPr>
          <a:xfrm>
            <a:off x="8613648" y="1920240"/>
            <a:ext cx="146304" cy="146304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8823960" y="1856232"/>
            <a:ext cx="3063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dados/maio2026.xlsx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11768328" y="1856232"/>
            <a:ext cx="20116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8503920" y="2148840"/>
            <a:ext cx="3520440" cy="274320"/>
          </a:xfrm>
          <a:prstGeom prst="rect">
            <a:avLst/>
          </a:prstGeom>
          <a:solidFill>
            <a:srgbClr val="1E22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Shape 50"/>
          <p:cNvSpPr/>
          <p:nvPr/>
        </p:nvSpPr>
        <p:spPr>
          <a:xfrm>
            <a:off x="8613648" y="221284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3" name="Text 51"/>
          <p:cNvSpPr/>
          <p:nvPr/>
        </p:nvSpPr>
        <p:spPr>
          <a:xfrm>
            <a:off x="8823960" y="2148840"/>
            <a:ext cx="30632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imagens/nova.png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1768328" y="2148840"/>
            <a:ext cx="201168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8613648" y="2496312"/>
            <a:ext cx="3300984" cy="274320"/>
          </a:xfrm>
          <a:prstGeom prst="rect">
            <a:avLst/>
          </a:prstGeom>
          <a:solidFill>
            <a:srgbClr val="2D333B"/>
          </a:solidFill>
          <a:ln w="12700">
            <a:solidFill>
              <a:srgbClr val="4A556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8668512" y="2496312"/>
            <a:ext cx="3191256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dados de Junho 2026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8613648" y="2834640"/>
            <a:ext cx="3300984" cy="320040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8613648" y="2834640"/>
            <a:ext cx="3300984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main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8613648" y="3273552"/>
            <a:ext cx="3300984" cy="365760"/>
          </a:xfrm>
          <a:prstGeom prst="rect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8613648" y="3273552"/>
            <a:ext cx="3300984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Push origin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8503920" y="37673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Site atualizado em ~2min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503920" y="4114800"/>
            <a:ext cx="3520440" cy="4572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3" name="Text 61"/>
          <p:cNvSpPr/>
          <p:nvPr/>
        </p:nvSpPr>
        <p:spPr>
          <a:xfrm>
            <a:off x="8641080" y="4114800"/>
            <a:ext cx="324612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Deploy successful</a:t>
            </a:r>
            <a:endParaRPr lang="en-US" sz="750" dirty="0"/>
          </a:p>
          <a:p>
            <a:pPr marL="0" indent="0" algn="l">
              <a:buNone/>
            </a:pPr>
            <a:r>
              <a:rPr lang="en-US" sz="7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1m 47s · github.io/eap-maz-2026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37160" y="6537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— GitHub Desktop (sem terminal)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0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 rot="2400000">
            <a:off x="9736863" y="3440162"/>
            <a:ext cx="731520" cy="228600"/>
          </a:xfrm>
          <a:prstGeom prst="ellipse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 rot="4800000">
            <a:off x="8687370" y="3533192"/>
            <a:ext cx="731520" cy="228600"/>
          </a:xfrm>
          <a:prstGeom prst="ellipse">
            <a:avLst/>
          </a:prstGeom>
          <a:solidFill>
            <a:srgbClr val="1A3A0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 rot="7200000">
            <a:off x="8057701" y="2479560"/>
            <a:ext cx="731520" cy="228600"/>
          </a:xfrm>
          <a:prstGeom prst="ellipse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 rot="9600000">
            <a:off x="8426770" y="1247970"/>
            <a:ext cx="731520" cy="228600"/>
          </a:xfrm>
          <a:prstGeom prst="ellipse">
            <a:avLst/>
          </a:prstGeom>
          <a:solidFill>
            <a:srgbClr val="1A3A0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 rot="12000000">
            <a:off x="9455257" y="970739"/>
            <a:ext cx="731520" cy="228600"/>
          </a:xfrm>
          <a:prstGeom prst="ellipse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2743200" y="17373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EAP MAZ 2026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43200" y="2514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7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Transformando dados em decisões para o desenvolvimento de MAZ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200400"/>
            <a:ext cx="3200400" cy="822960"/>
          </a:xfrm>
          <a:prstGeom prst="rect">
            <a:avLst/>
          </a:prstGeom>
          <a:solidFill>
            <a:srgbClr val="1A3A08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1440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Acesse o Dashboard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3611880"/>
            <a:ext cx="3200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github.io/eap-maz-2026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09160" y="3200400"/>
            <a:ext cx="3200400" cy="822960"/>
          </a:xfrm>
          <a:prstGeom prst="rect">
            <a:avLst/>
          </a:prstGeom>
          <a:solidFill>
            <a:srgbClr val="1A3A08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70916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Suporte Técnico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160" y="3611880"/>
            <a:ext cx="3200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exposicoeseprojetos@gmail.com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503920" y="3200400"/>
            <a:ext cx="3200400" cy="822960"/>
          </a:xfrm>
          <a:prstGeom prst="rect">
            <a:avLst/>
          </a:prstGeom>
          <a:solidFill>
            <a:srgbClr val="1A3A08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503920" y="3200400"/>
            <a:ext cx="3200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Manual Completo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503920" y="3611880"/>
            <a:ext cx="32004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7D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Manual_Dashboard_EAP_MAZ_2026.docx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57200" y="5303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MAZ — Muquém do São Francisco, Bahia  ·  Maio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57150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D5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Desenvolvido com ❤️ para o desenvolvimento sustentável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 — Responsáv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1A2E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137160" y="0"/>
            <a:ext cx="32004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DASHBOARD EAP MAZ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0" y="73152"/>
            <a:ext cx="1005840" cy="347472"/>
          </a:xfrm>
          <a:prstGeom prst="rect">
            <a:avLst/>
          </a:prstGeom>
          <a:solidFill>
            <a:srgbClr val="4A9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474720" y="73152"/>
            <a:ext cx="100584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53712" y="73152"/>
            <a:ext cx="1371600" cy="347472"/>
          </a:xfrm>
          <a:prstGeom prst="rect">
            <a:avLst/>
          </a:prstGeom>
          <a:solidFill>
            <a:srgbClr val="2D5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53712" y="73152"/>
            <a:ext cx="137160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98464" y="73152"/>
            <a:ext cx="1828800" cy="347472"/>
          </a:xfrm>
          <a:prstGeom prst="rect">
            <a:avLst/>
          </a:prstGeom>
          <a:solidFill>
            <a:srgbClr val="2D5C1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98464" y="73152"/>
            <a:ext cx="1828800" cy="34747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Requisições de Compras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73152"/>
            <a:ext cx="33832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CC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Atualizado: Mai 2026  v2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0" y="502920"/>
            <a:ext cx="12188952" cy="384048"/>
          </a:xfrm>
          <a:prstGeom prst="rect">
            <a:avLst/>
          </a:prstGeom>
          <a:solidFill>
            <a:srgbClr val="2D5C1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37160" y="502920"/>
            <a:ext cx="6858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Responsável: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" y="566928"/>
            <a:ext cx="1196035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4400" y="566928"/>
            <a:ext cx="1196035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Eixos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220163" y="566928"/>
            <a:ext cx="1196035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2220163" y="566928"/>
            <a:ext cx="1196035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Dez 2026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525926" y="566928"/>
            <a:ext cx="1261872" cy="256032"/>
          </a:xfrm>
          <a:prstGeom prst="rect">
            <a:avLst/>
          </a:prstGeom>
          <a:solidFill>
            <a:srgbClr val="3A6B1E"/>
          </a:solidFill>
          <a:ln w="12700">
            <a:solidFill>
              <a:srgbClr val="5A8A4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3525926" y="566928"/>
            <a:ext cx="126187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Status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89920" y="566928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Limpar filtros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10058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Responsável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365760" y="1600200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E0E0E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57200" y="1600200"/>
            <a:ext cx="5029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05840" y="1645920"/>
            <a:ext cx="45720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05840" y="1901952"/>
            <a:ext cx="45720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dropdown "Todos os responsáveis" na barra de filtros superior e marque o(s) nome(s) desejado(s).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2532888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E0E0E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57200" y="2532888"/>
            <a:ext cx="5029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5840" y="2578608"/>
            <a:ext cx="45720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05840" y="2834640"/>
            <a:ext cx="45720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nos chips de nome exibidos entre as abas e o conteúdo, nas abas Gantt e Status Report.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465576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E0E0E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457200" y="3465576"/>
            <a:ext cx="5029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05840" y="3511296"/>
            <a:ext cx="45720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filtrado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05840" y="3767328"/>
            <a:ext cx="45720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apenas eixos, grupos e marcos com tarefas daquele responsável. Linhas sem correspondência somem do Gantt.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65760" y="4398264"/>
            <a:ext cx="530352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12700" dir="2700000" algn="bl" rotWithShape="0">
              <a:srgbClr val="E0E0E0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57200" y="4398264"/>
            <a:ext cx="50292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005840" y="4443984"/>
            <a:ext cx="45720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marcado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05840" y="4700016"/>
            <a:ext cx="457200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nenhum responsável estiver selecionado, o cronograma some e aparece a mensagem verde "SELECIONE AO MENOS UM RESPONSÁVEL". Marque ao menos um nome para reaparecer.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035040" y="1600200"/>
            <a:ext cx="5943600" cy="502920"/>
          </a:xfrm>
          <a:prstGeom prst="rect">
            <a:avLst/>
          </a:prstGeom>
          <a:solidFill>
            <a:srgbClr val="2D5C14"/>
          </a:solidFill>
          <a:ln/>
          <a:effectLst>
            <a:outerShdw blurRad="63500" dist="25400" dir="2700000" algn="bl" rotWithShape="0">
              <a:srgbClr val="CCCCCC">
                <a:alpha val="7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172200" y="1600200"/>
            <a:ext cx="822960" cy="5029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Responsável: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86600" y="1673352"/>
            <a:ext cx="1426464" cy="347472"/>
          </a:xfrm>
          <a:prstGeom prst="rect">
            <a:avLst/>
          </a:prstGeom>
          <a:solidFill>
            <a:srgbClr val="3A6B1E"/>
          </a:solidFill>
          <a:ln w="12700">
            <a:solidFill>
              <a:srgbClr val="7AAA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7086600" y="1673352"/>
            <a:ext cx="142646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650224" y="1673352"/>
            <a:ext cx="1426464" cy="347472"/>
          </a:xfrm>
          <a:prstGeom prst="rect">
            <a:avLst/>
          </a:prstGeom>
          <a:solidFill>
            <a:srgbClr val="3A6B1E"/>
          </a:solidFill>
          <a:ln w="12700">
            <a:solidFill>
              <a:srgbClr val="7AAA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8650224" y="1673352"/>
            <a:ext cx="1426464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213848" y="1673352"/>
            <a:ext cx="932688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7AAA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10213848" y="1673352"/>
            <a:ext cx="932688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35040" y="2157984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Resultado: apenas marcos e tarefas de Ana e Carlos aparecem no cronograma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035040" y="2532888"/>
            <a:ext cx="5943600" cy="292608"/>
          </a:xfrm>
          <a:prstGeom prst="rect">
            <a:avLst/>
          </a:prstGeom>
          <a:solidFill>
            <a:srgbClr val="1A2E0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6172200" y="2532888"/>
            <a:ext cx="45720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Eixo 1 — Expografia (responsável: Ana)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332720" y="2596896"/>
            <a:ext cx="704088" cy="1828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10332720" y="2596896"/>
            <a:ext cx="70408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035040" y="2825496"/>
            <a:ext cx="594360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6144768" y="2825496"/>
            <a:ext cx="36576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Ponte sobre o Rio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332720" y="2880360"/>
            <a:ext cx="704088" cy="1828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10332720" y="2880360"/>
            <a:ext cx="70408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035040" y="3154680"/>
            <a:ext cx="5943600" cy="310896"/>
          </a:xfrm>
          <a:prstGeom prst="rect">
            <a:avLst/>
          </a:prstGeom>
          <a:solidFill>
            <a:srgbClr val="F8FFF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6144768" y="3154680"/>
            <a:ext cx="365760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Calçamento do Centro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0332720" y="3209544"/>
            <a:ext cx="704088" cy="18288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10332720" y="3209544"/>
            <a:ext cx="704088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13716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— Eixo, Data, Status e Responsável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1547</Words>
  <Application>Microsoft Office PowerPoint</Application>
  <PresentationFormat>Personalizar</PresentationFormat>
  <Paragraphs>463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Guilherme Fernandes</cp:lastModifiedBy>
  <cp:revision>1</cp:revision>
  <dcterms:created xsi:type="dcterms:W3CDTF">2026-05-20T18:32:10Z</dcterms:created>
  <dcterms:modified xsi:type="dcterms:W3CDTF">2026-05-22T23:32:38Z</dcterms:modified>
</cp:coreProperties>
</file>